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19695" y="0"/>
            <a:ext cx="4572000" cy="310896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48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1D6FE0"/>
                </a:solidFill>
                <a:latin typeface="Inter Tight"/>
              </a:rPr>
              <a:t>◆ </a:t>
            </a:r>
            <a:r>
              <a:rPr sz="1100" b="1" spc="240">
                <a:solidFill>
                  <a:srgbClr val="14418A"/>
                </a:solidFill>
                <a:latin typeface="Inter Tight"/>
              </a:rPr>
              <a:t>HC-UFPE · DIAGNÓSTICO POR IMAGEM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99855" y="502920"/>
            <a:ext cx="2514600" cy="45720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/>
            <a:r>
              <a:rPr sz="1000" b="1" i="0" spc="120">
                <a:solidFill>
                  <a:srgbClr val="14418A"/>
                </a:solidFill>
                <a:latin typeface="Inter Tight"/>
              </a:rPr>
              <a:t>TÓPICOS AVANÇADOS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ASSISTENTE CONVERSACIONAL DE EXAMES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4800" i="0">
                <a:solidFill>
                  <a:srgbClr val="0B2545"/>
                </a:solidFill>
                <a:latin typeface="Georgia"/>
              </a:rPr>
              <a:t>Saiba exatamente como </a:t>
            </a:r>
            <a:r>
              <a:rPr sz="4800" i="1">
                <a:solidFill>
                  <a:srgbClr val="14418A"/>
                </a:solidFill>
                <a:latin typeface="Georgia"/>
              </a:rPr>
              <a:t>se preparar</a:t>
            </a:r>
            <a:r>
              <a:rPr sz="4800" i="0">
                <a:solidFill>
                  <a:srgbClr val="0B2545"/>
                </a:solidFill>
                <a:latin typeface="Georgia"/>
              </a:rPr>
              <a:t> para o seu exame de imagem.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7200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5A7299"/>
                </a:solidFill>
                <a:latin typeface="Inter Tight"/>
              </a:rPr>
              <a:t>Um chatbot que centraliza e comunica corretamente as orientações de preparo dos exames do setor de imagem do HC-UFPE.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623560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 spc="140">
                <a:solidFill>
                  <a:srgbClr val="5A7299"/>
                </a:solidFill>
                <a:latin typeface="Inter Tight"/>
              </a:rPr>
              <a:t>CLIENTE</a:t>
            </a:r>
          </a:p>
          <a:p>
            <a:pPr algn="l"/>
            <a:r>
              <a:rPr sz="1300" b="1" i="0">
                <a:solidFill>
                  <a:srgbClr val="0B2545"/>
                </a:solidFill>
                <a:latin typeface="Inter Tight"/>
              </a:rPr>
              <a:t>Unidade de Diagnóstico por Imagem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2978" y="580644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 spc="140">
                <a:solidFill>
                  <a:srgbClr val="5A7299"/>
                </a:solidFill>
                <a:latin typeface="Inter Tight"/>
              </a:rPr>
              <a:t>ABORDAGEM</a:t>
            </a:r>
          </a:p>
          <a:p>
            <a:pPr algn="l"/>
            <a:r>
              <a:rPr sz="1300" b="1" i="0">
                <a:solidFill>
                  <a:srgbClr val="0B2545"/>
                </a:solidFill>
                <a:latin typeface="Inter Tight"/>
              </a:rPr>
              <a:t>RAG · Next.js · Serverless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8716" y="580644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 spc="140">
                <a:solidFill>
                  <a:srgbClr val="5A7299"/>
                </a:solidFill>
                <a:latin typeface="Inter Tight"/>
              </a:rPr>
              <a:t>APRESENTAÇÃO</a:t>
            </a:r>
          </a:p>
          <a:p>
            <a:pPr algn="l"/>
            <a:r>
              <a:rPr sz="1300" b="1" i="0">
                <a:solidFill>
                  <a:srgbClr val="0B2545"/>
                </a:solidFill>
                <a:latin typeface="Inter Tight"/>
              </a:rPr>
              <a:t>15 min + 5 min de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64008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 spc="150">
                <a:solidFill>
                  <a:srgbClr val="5A7299"/>
                </a:solidFill>
                <a:latin typeface="Inter Tight"/>
              </a:rPr>
              <a:t>01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MOTIVAÇÃO · 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i="0">
                <a:solidFill>
                  <a:srgbClr val="0B2545"/>
                </a:solidFill>
                <a:latin typeface="Georgia"/>
              </a:rPr>
              <a:t>A orientação certa </a:t>
            </a:r>
            <a:r>
              <a:rPr sz="3800" i="1">
                <a:solidFill>
                  <a:srgbClr val="14418A"/>
                </a:solidFill>
                <a:latin typeface="Georgia"/>
              </a:rPr>
              <a:t>não chega</a:t>
            </a:r>
            <a:r>
              <a:rPr sz="3800" i="0">
                <a:solidFill>
                  <a:srgbClr val="0B2545"/>
                </a:solidFill>
                <a:latin typeface="Georgia"/>
              </a:rPr>
              <a:t> a quem realiza o exame.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7299"/>
                </a:solidFill>
                <a:latin typeface="Inter Tight"/>
              </a:rPr>
              <a:t>Preparo, jejum, contraste, documentação e forma de marcar estão dispersos entre planilhas, PDFs e folhas físicas. Quando a orientação falha, o exame remarca.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66160"/>
            <a:ext cx="2419273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DCE8FA"/>
                </a:solidFill>
                <a:latin typeface="Georgia"/>
              </a:rPr>
              <a:t>01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B2545"/>
                </a:solidFill>
                <a:latin typeface="Inter Tight"/>
              </a:rPr>
              <a:t>Solicitação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7299"/>
                </a:solidFill>
                <a:latin typeface="Inter Tight"/>
              </a:rPr>
              <a:t>Médico registra o exame no AGHU durante a consulta.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0183" y="3749040"/>
            <a:ext cx="12700" cy="173736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6553" y="3566160"/>
            <a:ext cx="2419273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DCE8FA"/>
                </a:solidFill>
                <a:latin typeface="Georgia"/>
              </a:rPr>
              <a:t>02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B2545"/>
                </a:solidFill>
                <a:latin typeface="Inter Tight"/>
              </a:rPr>
              <a:t>Marcação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7299"/>
                </a:solidFill>
                <a:latin typeface="Inter Tight"/>
              </a:rPr>
              <a:t>Paciente ou enfermagem agenda — sem padrão único.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9497" y="3749040"/>
            <a:ext cx="12700" cy="173736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5867" y="3566160"/>
            <a:ext cx="2419273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1D6FE0"/>
                </a:solidFill>
                <a:latin typeface="Georgia"/>
              </a:rPr>
              <a:t>03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B2545"/>
                </a:solidFill>
                <a:latin typeface="Inter Tight"/>
              </a:rPr>
              <a:t>Orientação falha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7299"/>
                </a:solidFill>
                <a:latin typeface="Inter Tight"/>
              </a:rPr>
              <a:t>Preparo não é passado corretamente ao paciente.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8811" y="3749040"/>
            <a:ext cx="12700" cy="173736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5181" y="3566160"/>
            <a:ext cx="2419273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1D6FE0"/>
                </a:solidFill>
                <a:latin typeface="Georgia"/>
              </a:rPr>
              <a:t>04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B2545"/>
                </a:solidFill>
                <a:latin typeface="Inter Tight"/>
              </a:rPr>
              <a:t>Remarcação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7299"/>
                </a:solidFill>
                <a:latin typeface="Inter Tight"/>
              </a:rPr>
              <a:t>Vaga desperdiçada, fila cresce, eficiência cai.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5A7299"/>
                </a:solidFill>
                <a:latin typeface="Inter Tight"/>
              </a:rPr>
              <a:t>VALIDADO EM 3 VISITAS COM TIAGO JORNADA E KAROLINE ANDRADE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64008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 spc="150">
                <a:solidFill>
                  <a:srgbClr val="5A7299"/>
                </a:solidFill>
                <a:latin typeface="Inter Tight"/>
              </a:rPr>
              <a:t>02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BASE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i="0">
                <a:solidFill>
                  <a:srgbClr val="0B2545"/>
                </a:solidFill>
                <a:latin typeface="Georgia"/>
              </a:rPr>
              <a:t>914 exames, </a:t>
            </a:r>
            <a:r>
              <a:rPr sz="3800" i="1">
                <a:solidFill>
                  <a:srgbClr val="14418A"/>
                </a:solidFill>
                <a:latin typeface="Georgia"/>
              </a:rPr>
              <a:t>3 fontes</a:t>
            </a:r>
            <a:r>
              <a:rPr sz="3800" i="0">
                <a:solidFill>
                  <a:srgbClr val="0B2545"/>
                </a:solidFill>
                <a:latin typeface="Georgia"/>
              </a:rPr>
              <a:t>, 7 modalidades.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333237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" y="2368296"/>
            <a:ext cx="2820314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 spc="120">
                <a:solidFill>
                  <a:srgbClr val="1D6FE0"/>
                </a:solidFill>
                <a:latin typeface="Inter Tight"/>
              </a:rPr>
              <a:t>FONTE 01 · DIGITAL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B2545"/>
                </a:solidFill>
                <a:latin typeface="Georgia"/>
              </a:rPr>
              <a:t>Catálogo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5A7299"/>
                </a:solidFill>
                <a:latin typeface="Inter Tight"/>
              </a:rPr>
              <a:t>Planilha com os 914 exames: nome, sigla, sinônimos e modalidade.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9658" y="2148840"/>
            <a:ext cx="333237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5690" y="2368296"/>
            <a:ext cx="2820314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 spc="120">
                <a:solidFill>
                  <a:srgbClr val="1D6FE0"/>
                </a:solidFill>
                <a:latin typeface="Inter Tight"/>
              </a:rPr>
              <a:t>FONTE 02 · DIGITAL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B2545"/>
                </a:solidFill>
                <a:latin typeface="Georgia"/>
              </a:rPr>
              <a:t>Orientações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5A7299"/>
                </a:solidFill>
                <a:latin typeface="Inter Tight"/>
              </a:rPr>
              <a:t>Documento por modalidade: gerais, por grupo e específicos. Cobre USG, RM, MMG,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2076" y="2148840"/>
            <a:ext cx="3332378" cy="169164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8108" y="2368296"/>
            <a:ext cx="2820314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 spc="120">
                <a:solidFill>
                  <a:srgbClr val="1D6FE0"/>
                </a:solidFill>
                <a:latin typeface="Inter Tight"/>
              </a:rPr>
              <a:t>FONTE 03 · NO PAPEL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B2545"/>
                </a:solidFill>
                <a:latin typeface="Georgia"/>
              </a:rPr>
              <a:t>Folhas físicas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5A7299"/>
                </a:solidFill>
                <a:latin typeface="Inter Tight"/>
              </a:rPr>
              <a:t>Preparos de TC, RX e Medicina Nuclear — ainda a digitalizar.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6052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B2545"/>
                </a:solidFill>
                <a:latin typeface="Inter Tight"/>
              </a:rPr>
              <a:t>Tomografia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4270248"/>
            <a:ext cx="6583680" cy="146304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71800" y="4270248"/>
            <a:ext cx="6583680" cy="146304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4160520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4418A"/>
                </a:solidFill>
                <a:latin typeface="Inter Tight"/>
              </a:rPr>
              <a:t>286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99432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B2545"/>
                </a:solidFill>
                <a:latin typeface="Inter Tight"/>
              </a:rPr>
              <a:t>Radiologia Conv.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71800" y="4709160"/>
            <a:ext cx="6583680" cy="146304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971800" y="4709160"/>
            <a:ext cx="5003596" cy="146304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0" y="4599432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4418A"/>
                </a:solidFill>
                <a:latin typeface="Inter Tight"/>
              </a:rPr>
              <a:t>217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03834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B2545"/>
                </a:solidFill>
                <a:latin typeface="Inter Tight"/>
              </a:rPr>
              <a:t>Ressonância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71800" y="5148072"/>
            <a:ext cx="6583680" cy="146304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971800" y="5148072"/>
            <a:ext cx="4411065" cy="146304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5038344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4418A"/>
                </a:solidFill>
                <a:latin typeface="Inter Tight"/>
              </a:rPr>
              <a:t>193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7725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B2545"/>
                </a:solidFill>
                <a:latin typeface="Inter Tight"/>
              </a:rPr>
              <a:t>Ultrassonografia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71800" y="5586984"/>
            <a:ext cx="6583680" cy="146304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971800" y="5586984"/>
            <a:ext cx="3950208" cy="146304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5477256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4418A"/>
                </a:solidFill>
                <a:latin typeface="Inter Tight"/>
              </a:rPr>
              <a:t>172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91616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B2545"/>
                </a:solidFill>
                <a:latin typeface="Inter Tight"/>
              </a:rPr>
              <a:t>Medicina Nuclear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71800" y="6025896"/>
            <a:ext cx="6583680" cy="146304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971800" y="6025896"/>
            <a:ext cx="790041" cy="146304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5916168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4418A"/>
                </a:solidFill>
                <a:latin typeface="Inter Tight"/>
              </a:rPr>
              <a:t>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64008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 spc="150">
                <a:solidFill>
                  <a:srgbClr val="5A7299"/>
                </a:solidFill>
                <a:latin typeface="Inter Tight"/>
              </a:rPr>
              <a:t>03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A PROPOSTA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Chatbot de acesso aberto que </a:t>
            </a:r>
            <a:r>
              <a:rPr sz="3600" i="1">
                <a:solidFill>
                  <a:srgbClr val="14418A"/>
                </a:solidFill>
                <a:latin typeface="Georgia"/>
              </a:rPr>
              <a:t>adapta o tom</a:t>
            </a:r>
            <a:r>
              <a:rPr sz="3600" i="0">
                <a:solidFill>
                  <a:srgbClr val="0B2545"/>
                </a:solidFill>
                <a:latin typeface="Georgia"/>
              </a:rPr>
              <a:t> ao usuário.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7299"/>
                </a:solidFill>
                <a:latin typeface="Inter Tight"/>
              </a:rPr>
              <a:t>Uma pergunta em linguagem natural. A resposta vem só dos documentos oficiais — nunca inventada — e no nível certo para quem pergunta.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383280"/>
            <a:ext cx="5090007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3703320"/>
            <a:ext cx="594360" cy="59436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0" i="0">
                <a:solidFill>
                  <a:srgbClr val="1D6FE0"/>
                </a:solidFill>
                <a:latin typeface="Inter Tight"/>
              </a:rPr>
              <a:t>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434840"/>
            <a:ext cx="444992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B2545"/>
                </a:solidFill>
                <a:latin typeface="Georgia"/>
              </a:rPr>
              <a:t>Paciente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Linguagem simples: jejum, horário, medicamentos, documentos, local de marcação e cuidados.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447" y="3383280"/>
            <a:ext cx="5090007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44487" y="3703320"/>
            <a:ext cx="594360" cy="59436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0" i="0">
                <a:solidFill>
                  <a:srgbClr val="1D6FE0"/>
                </a:solidFill>
                <a:latin typeface="Inter Tight"/>
              </a:rPr>
              <a:t>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4434840"/>
            <a:ext cx="444992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B2545"/>
                </a:solidFill>
                <a:latin typeface="Georgia"/>
              </a:rPr>
              <a:t>Profissional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Linguagem técnica: protocolos, tipo de contraste, sedação, restrições e fluxo de agendamento.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5A7299"/>
                </a:solidFill>
                <a:latin typeface="Inter Tight"/>
              </a:rPr>
              <a:t>FORA DO ESCOPO · NAVEGAÇÃO PELO CORPO HUMANO · MARCAÇÃO REAL · DADOS DE PACIENTE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64008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 spc="150">
                <a:solidFill>
                  <a:srgbClr val="5A7299"/>
                </a:solidFill>
                <a:latin typeface="Inter Tight"/>
              </a:rPr>
              <a:t>04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METODOLOGIA · PIPELINE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400" i="0">
                <a:solidFill>
                  <a:srgbClr val="0B2545"/>
                </a:solidFill>
                <a:latin typeface="Georgia"/>
              </a:rPr>
              <a:t>Um script de ingestão monta a base, </a:t>
            </a:r>
            <a:r>
              <a:rPr sz="3400" i="1">
                <a:solidFill>
                  <a:srgbClr val="14418A"/>
                </a:solidFill>
                <a:latin typeface="Georgia"/>
              </a:rPr>
              <a:t>não a mão.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059684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377440"/>
            <a:ext cx="548640" cy="54864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Inter Tigh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359152"/>
            <a:ext cx="963137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Ler o catálogo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Identifica a modalidade de cada um dos 914 exames a partir da planilha.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846068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163824"/>
            <a:ext cx="548640" cy="54864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Inter Tigh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145536"/>
            <a:ext cx="963137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Estruturar orientações com LLM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Converte o documento em blocos: geral, por modalidade e específicos.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632452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950208"/>
            <a:ext cx="548640" cy="54864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Inter Tigh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931920"/>
            <a:ext cx="963137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Associar por similaridade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Casa preparos aos exames pela coluna de sinônimos — ajuda o RAG com termos leigos.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18836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4736592"/>
            <a:ext cx="548640" cy="54864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Inter Tigh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718304"/>
            <a:ext cx="963137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Digitalizar folhas físicas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OCR + estruturação com Gemini multimodal, seguido de revisão humana obrigatória.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6205220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5522976"/>
            <a:ext cx="548640" cy="54864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Inter Tight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504688"/>
            <a:ext cx="963137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Gerar embeddings → JSON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Herança automática (geral + modalidade) evita 914 registros manuais.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64008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 spc="150">
                <a:solidFill>
                  <a:srgbClr val="5A7299"/>
                </a:solidFill>
                <a:latin typeface="Inter Tight"/>
              </a:rPr>
              <a:t>05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METODOLOGIA ·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Uma aplicação, </a:t>
            </a:r>
            <a:r>
              <a:rPr sz="3600" i="1">
                <a:solidFill>
                  <a:srgbClr val="14418A"/>
                </a:solidFill>
                <a:latin typeface="Georgia"/>
              </a:rPr>
              <a:t>custo próximo de zero.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77440"/>
            <a:ext cx="1063721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21031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140">
                <a:solidFill>
                  <a:srgbClr val="1D6FE0"/>
                </a:solidFill>
                <a:latin typeface="Inter Tight"/>
              </a:rPr>
              <a:t>INTERFACE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2542032"/>
            <a:ext cx="761969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B2545"/>
                </a:solidFill>
                <a:latin typeface="Inter Tight"/>
              </a:rPr>
              <a:t>Next.js (React)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Tela de chat e seletor de perfil, responsiva. Servida por CDN.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107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5A7299"/>
                </a:solidFill>
                <a:latin typeface="Inter Tight"/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3721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21031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140">
                <a:solidFill>
                  <a:srgbClr val="1D6FE0"/>
                </a:solidFill>
                <a:latin typeface="Inter Tight"/>
              </a:rPr>
              <a:t>API ROUTE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4005072"/>
            <a:ext cx="761969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B2545"/>
                </a:solidFill>
                <a:latin typeface="Inter Tight"/>
              </a:rPr>
              <a:t>Função serverless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Recupera trechos, protege a chave de API e chama o modelo. Sem servidor a gerenciar.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7375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5A7299"/>
                </a:solidFill>
                <a:latin typeface="Inter Tight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303520"/>
            <a:ext cx="1063721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5303520"/>
            <a:ext cx="21031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140">
                <a:solidFill>
                  <a:srgbClr val="1D6FE0"/>
                </a:solidFill>
                <a:latin typeface="Inter Tight"/>
              </a:rPr>
              <a:t>DADOS · 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5468112"/>
            <a:ext cx="761969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B2545"/>
                </a:solidFill>
                <a:latin typeface="Inter Tight"/>
              </a:rPr>
              <a:t>JSON + embeddings em memória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914 exames dispensam banco vetorial; busca exata é instantânea.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160">
                <a:solidFill>
                  <a:srgbClr val="5A7299"/>
                </a:solidFill>
                <a:latin typeface="Inter Tight"/>
              </a:rPr>
              <a:t>NEXT.JS · VERCEL · GOOGLE GEMINI (CAMADA GRATUITA) · JSON EM MEMÓRIA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64008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 spc="150">
                <a:solidFill>
                  <a:srgbClr val="5A7299"/>
                </a:solidFill>
                <a:latin typeface="Inter Tight"/>
              </a:rPr>
              <a:t>06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RESULTADOS ALCANÇADOS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Assistente </a:t>
            </a:r>
            <a:r>
              <a:rPr sz="3600" i="1">
                <a:solidFill>
                  <a:srgbClr val="14418A"/>
                </a:solidFill>
                <a:latin typeface="Georgia"/>
              </a:rPr>
              <a:t>funcional e navegável</a:t>
            </a:r>
            <a:r>
              <a:rPr sz="3600" i="0">
                <a:solidFill>
                  <a:srgbClr val="0B2545"/>
                </a:solidFill>
                <a:latin typeface="Georgia"/>
              </a:rPr>
              <a:t>, on-brand.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38100" cy="137160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2224963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 i="0">
                <a:solidFill>
                  <a:srgbClr val="14418A"/>
                </a:solidFill>
                <a:latin typeface="Georgia"/>
              </a:rPr>
              <a:t>2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A7299"/>
                </a:solidFill>
                <a:latin typeface="Inter Tight"/>
              </a:rPr>
              <a:t>perfis com tom adaptado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3505123" y="2286000"/>
            <a:ext cx="38100" cy="137160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3723" y="2240280"/>
            <a:ext cx="2224963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 i="0">
                <a:solidFill>
                  <a:srgbClr val="14418A"/>
                </a:solidFill>
                <a:latin typeface="Georgia"/>
              </a:rPr>
              <a:t>4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A7299"/>
                </a:solidFill>
                <a:latin typeface="Inter Tight"/>
              </a:rPr>
              <a:t>modalidades já cobertas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286000"/>
            <a:ext cx="38100" cy="137160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2240280"/>
            <a:ext cx="2224963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 i="0">
                <a:solidFill>
                  <a:srgbClr val="14418A"/>
                </a:solidFill>
                <a:latin typeface="Georgia"/>
              </a:rPr>
              <a:t>RAG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A7299"/>
                </a:solidFill>
                <a:latin typeface="Inter Tight"/>
              </a:rPr>
              <a:t>respostas fundamentadas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0891" y="2286000"/>
            <a:ext cx="38100" cy="137160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9491" y="2240280"/>
            <a:ext cx="2224963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 i="0">
                <a:solidFill>
                  <a:srgbClr val="14418A"/>
                </a:solidFill>
                <a:latin typeface="Georgia"/>
              </a:rPr>
              <a:t>0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A7299"/>
                </a:solidFill>
                <a:latin typeface="Inter Tight"/>
              </a:rPr>
              <a:t>dado pessoal coletado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69080"/>
            <a:ext cx="3332378" cy="173736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2783738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 spc="120">
                <a:solidFill>
                  <a:srgbClr val="1D6FE0"/>
                </a:solidFill>
                <a:latin typeface="Inter Tight"/>
              </a:rPr>
              <a:t>✓ ENTREGUE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B2545"/>
                </a:solidFill>
                <a:latin typeface="Georgia"/>
              </a:rPr>
              <a:t>Fluxo guiado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5A7299"/>
                </a:solidFill>
                <a:latin typeface="Inter Tight"/>
              </a:rPr>
              <a:t>Picker de exame antes do chat livre, como pediu a Karol no 3º checkpoint.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9658" y="4069080"/>
            <a:ext cx="3332378" cy="173736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3978" y="4325112"/>
            <a:ext cx="2783738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 spc="120">
                <a:solidFill>
                  <a:srgbClr val="1D6FE0"/>
                </a:solidFill>
                <a:latin typeface="Inter Tight"/>
              </a:rPr>
              <a:t>✓ ENTREGUE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B2545"/>
                </a:solidFill>
                <a:latin typeface="Georgia"/>
              </a:rPr>
              <a:t>Passo a passo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5A7299"/>
                </a:solidFill>
                <a:latin typeface="Inter Tight"/>
              </a:rPr>
              <a:t>Roteiro operacional p/ o profissional: contraste, sedação, acesso venoso.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2076" y="4069080"/>
            <a:ext cx="3332378" cy="173736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6396" y="4325112"/>
            <a:ext cx="2783738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 spc="120">
                <a:solidFill>
                  <a:srgbClr val="1D6FE0"/>
                </a:solidFill>
                <a:latin typeface="Inter Tight"/>
              </a:rPr>
              <a:t>✓ ENTREGUE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B2545"/>
                </a:solidFill>
                <a:latin typeface="Georgia"/>
              </a:rPr>
              <a:t>Guardrails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5A7299"/>
                </a:solidFill>
                <a:latin typeface="Inter Tight"/>
              </a:rPr>
              <a:t>Recusa explícita quando falta info; aviso de que não substitui a equipe.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64008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 spc="150">
                <a:solidFill>
                  <a:srgbClr val="5A7299"/>
                </a:solidFill>
                <a:latin typeface="Inter Tight"/>
              </a:rPr>
              <a:t>07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RESULTADOS · O PRODUTO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Da pergunta à orientação, </a:t>
            </a:r>
            <a:r>
              <a:rPr sz="3600" i="1">
                <a:solidFill>
                  <a:srgbClr val="14418A"/>
                </a:solidFill>
                <a:latin typeface="Georgia"/>
              </a:rPr>
              <a:t>com a fonte.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566928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5669280" cy="64008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0B2545"/>
                </a:solidFill>
                <a:latin typeface="Georgia"/>
              </a:rPr>
              <a:t>Assistente UDI HC-UFPE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432304"/>
            <a:ext cx="1143000" cy="3474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4418A"/>
                </a:solidFill>
                <a:latin typeface="Inter Tight"/>
              </a:rPr>
              <a:t>Paciente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154680"/>
            <a:ext cx="3291840" cy="658368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Inter Tight"/>
              </a:rPr>
              <a:t>Preciso de jejum para ressonância com contraste?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950208"/>
            <a:ext cx="3840480" cy="89611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B2545"/>
                </a:solidFill>
                <a:latin typeface="Inter Tight"/>
              </a:rPr>
              <a:t>Sim. Mantenha jejum de 4 horas. Leve o pedido médico e um documento com foto.</a:t>
            </a:r>
          </a:p>
          <a:p>
            <a:pPr algn="l"/>
            <a:r>
              <a:rPr sz="800" b="1" i="0" spc="60">
                <a:solidFill>
                  <a:srgbClr val="14418A"/>
                </a:solidFill>
                <a:latin typeface="Inter Tight"/>
              </a:rPr>
              <a:t>FONTE · ORIENTAÇÕES RM · HC-UFPE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49834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Inter Tight"/>
              </a:rPr>
              <a:t>E onde eu marco?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577840"/>
            <a:ext cx="3840480" cy="89611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B2545"/>
                </a:solidFill>
                <a:latin typeface="Inter Tight"/>
              </a:rPr>
              <a:t>Na central de marcação do hospital, presencialmente.</a:t>
            </a:r>
          </a:p>
          <a:p>
            <a:pPr algn="l"/>
            <a:r>
              <a:rPr sz="800" b="1" i="0" spc="60">
                <a:solidFill>
                  <a:srgbClr val="14418A"/>
                </a:solidFill>
                <a:latin typeface="Inter Tight"/>
              </a:rPr>
              <a:t>FONTE · FLUXO DE AGENDAMENTO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468880"/>
            <a:ext cx="43278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1D6FE0"/>
                </a:solidFill>
                <a:latin typeface="Inter Tight"/>
              </a:rPr>
              <a:t>→  </a:t>
            </a:r>
            <a:r>
              <a:rPr sz="1500" b="1">
                <a:solidFill>
                  <a:srgbClr val="0B2545"/>
                </a:solidFill>
                <a:latin typeface="Inter Tight"/>
              </a:rPr>
              <a:t>Linguagem natural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O usuário pergunta como falaria — sem conhecer a sigla técnica.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3703320"/>
            <a:ext cx="43278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1D6FE0"/>
                </a:solidFill>
                <a:latin typeface="Inter Tight"/>
              </a:rPr>
              <a:t>→  </a:t>
            </a:r>
            <a:r>
              <a:rPr sz="1500" b="1">
                <a:solidFill>
                  <a:srgbClr val="0B2545"/>
                </a:solidFill>
                <a:latin typeface="Inter Tight"/>
              </a:rPr>
              <a:t>Fundamentação visível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Cada resposta aponta a origem no documento oficial do hospital.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4937760"/>
            <a:ext cx="43278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1D6FE0"/>
                </a:solidFill>
                <a:latin typeface="Inter Tight"/>
              </a:rPr>
              <a:t>→  </a:t>
            </a:r>
            <a:r>
              <a:rPr sz="1500" b="1">
                <a:solidFill>
                  <a:srgbClr val="0B2545"/>
                </a:solidFill>
                <a:latin typeface="Inter Tight"/>
              </a:rPr>
              <a:t>Tom por perfil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A mesma base responde ao paciente e ao profissional em registros diferentes.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64008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 spc="150">
                <a:solidFill>
                  <a:srgbClr val="5A7299"/>
                </a:solidFill>
                <a:latin typeface="Inter Tight"/>
              </a:rPr>
              <a:t>08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ANÁLISE CRÍTICA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i="0">
                <a:solidFill>
                  <a:srgbClr val="0B2545"/>
                </a:solidFill>
                <a:latin typeface="Georgia"/>
              </a:rPr>
              <a:t>Pontos fortes </a:t>
            </a:r>
            <a:r>
              <a:rPr sz="3800" i="1">
                <a:solidFill>
                  <a:srgbClr val="14418A"/>
                </a:solidFill>
                <a:latin typeface="Georgia"/>
              </a:rPr>
              <a:t>e</a:t>
            </a:r>
            <a:r>
              <a:rPr sz="3800" i="0">
                <a:solidFill>
                  <a:srgbClr val="0B2545"/>
                </a:solidFill>
                <a:latin typeface="Georgia"/>
              </a:rPr>
              <a:t> limitações.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48614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60">
                <a:solidFill>
                  <a:srgbClr val="14418A"/>
                </a:solidFill>
                <a:latin typeface="Inter Tight"/>
              </a:rPr>
              <a:t>▲ PONTOS FORTES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486140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D6FE0"/>
                </a:solidFill>
                <a:latin typeface="Inter Tight"/>
              </a:rPr>
              <a:t>+  </a:t>
            </a:r>
            <a:r>
              <a:rPr sz="1450" b="1">
                <a:solidFill>
                  <a:srgbClr val="0B2545"/>
                </a:solidFill>
                <a:latin typeface="Inter Tight"/>
              </a:rPr>
              <a:t>Custo mínimo e sem manutenção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Serverless + JSON em memória: nada de servidor ou banco a administrar.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069080"/>
            <a:ext cx="486140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D6FE0"/>
                </a:solidFill>
                <a:latin typeface="Inter Tight"/>
              </a:rPr>
              <a:t>+  </a:t>
            </a:r>
            <a:r>
              <a:rPr sz="1450" b="1">
                <a:solidFill>
                  <a:srgbClr val="0B2545"/>
                </a:solidFill>
                <a:latin typeface="Inter Tight"/>
              </a:rPr>
              <a:t>Baixo risco de alucinação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RAG obriga fundamentação; sem info, o assistente recusa.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257800"/>
            <a:ext cx="486140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D6FE0"/>
                </a:solidFill>
                <a:latin typeface="Inter Tight"/>
              </a:rPr>
              <a:t>+  </a:t>
            </a:r>
            <a:r>
              <a:rPr sz="1450" b="1">
                <a:solidFill>
                  <a:srgbClr val="0B2545"/>
                </a:solidFill>
                <a:latin typeface="Inter Tight"/>
              </a:rPr>
              <a:t>Superfície de segurança mínima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Sem login, sem dado de paciente — LGPD reduzida.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2286000"/>
            <a:ext cx="48614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60">
                <a:solidFill>
                  <a:srgbClr val="5A7299"/>
                </a:solidFill>
                <a:latin typeface="Inter Tight"/>
              </a:rPr>
              <a:t>▼ LIMITAÇÕES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880360"/>
            <a:ext cx="486140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5A7299"/>
                </a:solidFill>
                <a:latin typeface="Inter Tight"/>
              </a:rPr>
              <a:t>–  </a:t>
            </a:r>
            <a:r>
              <a:rPr sz="1450" b="1">
                <a:solidFill>
                  <a:srgbClr val="0B2545"/>
                </a:solidFill>
                <a:latin typeface="Inter Tight"/>
              </a:rPr>
              <a:t>Sem testes com usuários finais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Restrição do projeto — validação só com os profissionais do HC.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047" y="4069080"/>
            <a:ext cx="486140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5A7299"/>
                </a:solidFill>
                <a:latin typeface="Inter Tight"/>
              </a:rPr>
              <a:t>–  </a:t>
            </a:r>
            <a:r>
              <a:rPr sz="1450" b="1">
                <a:solidFill>
                  <a:srgbClr val="0B2545"/>
                </a:solidFill>
                <a:latin typeface="Inter Tight"/>
              </a:rPr>
              <a:t>Cobertura parcial (~530 exames)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TC, RX e Medicina Nuclear ainda partem da orientação geral.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5257800"/>
            <a:ext cx="486140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5A7299"/>
                </a:solidFill>
                <a:latin typeface="Inter Tight"/>
              </a:rPr>
              <a:t>–  </a:t>
            </a:r>
            <a:r>
              <a:rPr sz="1450" b="1">
                <a:solidFill>
                  <a:srgbClr val="0B2545"/>
                </a:solidFill>
                <a:latin typeface="Inter Tight"/>
              </a:rPr>
              <a:t>Risco de OCR e nomes divergentes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Mitigado por revisão humana e coluna de sinônimos.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5847" y="2286000"/>
            <a:ext cx="12700" cy="393192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64008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 spc="150">
                <a:solidFill>
                  <a:srgbClr val="5A7299"/>
                </a:solidFill>
                <a:latin typeface="Inter Tight"/>
              </a:rPr>
              <a:t>09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● </a:t>
            </a:r>
            <a:r>
              <a:rPr sz="1100" b="1" spc="240">
                <a:solidFill>
                  <a:srgbClr val="5A7299"/>
                </a:solidFill>
                <a:latin typeface="Inter Tight"/>
              </a:rPr>
              <a:t>POSSIBILIDADES FUTURAS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i="0">
                <a:solidFill>
                  <a:srgbClr val="0B2545"/>
                </a:solidFill>
                <a:latin typeface="Georgia"/>
              </a:rPr>
              <a:t>Se continuássemos, </a:t>
            </a:r>
            <a:r>
              <a:rPr sz="3800" i="1">
                <a:solidFill>
                  <a:srgbClr val="14418A"/>
                </a:solidFill>
                <a:latin typeface="Georgia"/>
              </a:rPr>
              <a:t>nesta ordem.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68880"/>
            <a:ext cx="2453563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" y="2743200"/>
            <a:ext cx="1941499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1" i="0" spc="110">
                <a:solidFill>
                  <a:srgbClr val="1D6FE0"/>
                </a:solidFill>
                <a:latin typeface="Inter Tight"/>
              </a:rPr>
              <a:t>PRIORIDADE 01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0B2545"/>
                </a:solidFill>
                <a:latin typeface="Georgia"/>
              </a:rPr>
              <a:t>Cobertura total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Digitalizar TC, RX e MN até os 914 exames.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5123" y="2468880"/>
            <a:ext cx="2453563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61155" y="2743200"/>
            <a:ext cx="1941499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1" i="0" spc="110">
                <a:solidFill>
                  <a:srgbClr val="1D6FE0"/>
                </a:solidFill>
                <a:latin typeface="Inter Tight"/>
              </a:rPr>
              <a:t>PRIORIDADE 02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0B2545"/>
                </a:solidFill>
                <a:latin typeface="Georgia"/>
              </a:rPr>
              <a:t>RAG persistido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Índice de embeddings dedicado se a base crescer.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468880"/>
            <a:ext cx="2453563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9039" y="2743200"/>
            <a:ext cx="1941499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1" i="0" spc="110">
                <a:solidFill>
                  <a:srgbClr val="1D6FE0"/>
                </a:solidFill>
                <a:latin typeface="Inter Tight"/>
              </a:rPr>
              <a:t>PRIORIDADE 03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0B2545"/>
                </a:solidFill>
                <a:latin typeface="Georgia"/>
              </a:rPr>
              <a:t>Corpo humano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7299"/>
                </a:solidFill>
                <a:latin typeface="Inter Tight"/>
              </a:rPr>
              <a:t>Reintroduzir navegação visual por região.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0891" y="2468880"/>
            <a:ext cx="2453563" cy="310896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16923" y="2743200"/>
            <a:ext cx="1941499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1" i="0" spc="110">
                <a:solidFill>
                  <a:srgbClr val="7FB0F2"/>
                </a:solidFill>
                <a:latin typeface="Inter Tight"/>
              </a:rPr>
              <a:t>PRIORIDADE 04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Georgia"/>
              </a:rPr>
              <a:t>Painel de edição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AEC3E6"/>
                </a:solidFill>
                <a:latin typeface="Inter Tight"/>
              </a:rPr>
              <a:t>Equipe do HC edita conteúdo sem programador (Supabase).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0" y="-914400"/>
            <a:ext cx="7315200" cy="5486400"/>
          </a:xfrm>
          <a:prstGeom prst="rect">
            <a:avLst/>
          </a:prstGeom>
          <a:solidFill>
            <a:srgbClr val="14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7FB0F2"/>
                </a:solidFill>
                <a:latin typeface="Inter Tight"/>
              </a:rPr>
              <a:t>● </a:t>
            </a:r>
            <a:r>
              <a:rPr sz="1100" b="1" spc="260">
                <a:solidFill>
                  <a:srgbClr val="7FB0F2"/>
                </a:solidFill>
                <a:latin typeface="Inter Tight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000">
                <a:solidFill>
                  <a:srgbClr val="FFFFFF"/>
                </a:solidFill>
                <a:latin typeface="Georgia"/>
              </a:rPr>
              <a:t>Vamos ver </a:t>
            </a:r>
            <a:r>
              <a:rPr sz="5000" i="1">
                <a:solidFill>
                  <a:srgbClr val="7FB0F2"/>
                </a:solidFill>
                <a:latin typeface="Georgia"/>
              </a:rPr>
              <a:t>funcionando.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832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AEC3E6"/>
                </a:solidFill>
                <a:latin typeface="Inter Tight"/>
              </a:rPr>
              <a:t>Assistente conversacional de exames de imagem — HC-UFPE · Tópicos Avançados 4.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297680"/>
            <a:ext cx="3566160" cy="594360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Inter Tight"/>
              </a:rPr>
              <a:t>Iniciar demonstração ao vivo  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394960"/>
            <a:ext cx="10637215" cy="12700"/>
          </a:xfrm>
          <a:prstGeom prst="rect">
            <a:avLst/>
          </a:prstGeom>
          <a:solidFill>
            <a:srgbClr val="2A4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AEC3E6"/>
                </a:solidFill>
                <a:latin typeface="Inter Tight"/>
              </a:rPr>
              <a:t>Antonio Robério      </a:t>
            </a:r>
            <a:r>
              <a:rPr sz="1200">
                <a:solidFill>
                  <a:srgbClr val="AEC3E6"/>
                </a:solidFill>
                <a:latin typeface="Inter Tight"/>
              </a:rPr>
              <a:t>Ithalo      </a:t>
            </a:r>
            <a:r>
              <a:rPr sz="1200">
                <a:solidFill>
                  <a:srgbClr val="AEC3E6"/>
                </a:solidFill>
                <a:latin typeface="Inter Tight"/>
              </a:rPr>
              <a:t>Mateus Ataide      </a:t>
            </a:r>
            <a:r>
              <a:rPr sz="1200">
                <a:solidFill>
                  <a:srgbClr val="AEC3E6"/>
                </a:solidFill>
                <a:latin typeface="Inter Tight"/>
              </a:rPr>
              <a:t>Eric Barreto      </a:t>
            </a:r>
            <a:r>
              <a:rPr sz="1200">
                <a:solidFill>
                  <a:srgbClr val="AEC3E6"/>
                </a:solidFill>
                <a:latin typeface="Inter Tight"/>
              </a:rPr>
              <a:t>Joyce Santana      </a:t>
            </a:r>
            <a:r>
              <a:rPr sz="1200">
                <a:solidFill>
                  <a:srgbClr val="AEC3E6"/>
                </a:solidFill>
                <a:latin typeface="Inter Tight"/>
              </a:rPr>
              <a:t>Mateus Guerra      </a:t>
            </a:r>
            <a:r>
              <a:rPr sz="1200">
                <a:solidFill>
                  <a:srgbClr val="AEC3E6"/>
                </a:solidFill>
                <a:latin typeface="Inter Tight"/>
              </a:rPr>
              <a:t>Luís Felipe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