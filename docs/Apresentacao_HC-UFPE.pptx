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0"/>
            <a:ext cx="4572000" cy="310896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1D6FE0"/>
                </a:solidFill>
                <a:latin typeface="Inter Tight"/>
              </a:rPr>
              <a:t>◆ </a:t>
            </a:r>
            <a:r>
              <a:rPr sz="1100" b="1" spc="240">
                <a:solidFill>
                  <a:srgbClr val="14418A"/>
                </a:solidFill>
                <a:latin typeface="Inter Tight"/>
              </a:rPr>
              <a:t>HC-UFPE · DIAGNÓSTICO POR IMAGEM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99855" y="502920"/>
            <a:ext cx="2514600" cy="45720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000" b="1" i="0" spc="120">
                <a:solidFill>
                  <a:srgbClr val="14418A"/>
                </a:solidFill>
                <a:latin typeface="Inter Tight"/>
              </a:rPr>
              <a:t>TÓPICOS AVANÇADOS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ASSISTENTE CONVERSACIONAL DE EXAMES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4800" i="0">
                <a:solidFill>
                  <a:srgbClr val="0B2545"/>
                </a:solidFill>
                <a:latin typeface="Georgia"/>
              </a:rPr>
              <a:t>Saiba exatamente como </a:t>
            </a:r>
            <a:r>
              <a:rPr sz="4800" i="1">
                <a:solidFill>
                  <a:srgbClr val="14418A"/>
                </a:solidFill>
                <a:latin typeface="Georgia"/>
              </a:rPr>
              <a:t>se preparar</a:t>
            </a:r>
            <a:r>
              <a:rPr sz="4800" i="0">
                <a:solidFill>
                  <a:srgbClr val="0B2545"/>
                </a:solidFill>
                <a:latin typeface="Georgia"/>
              </a:rPr>
              <a:t> para o seu exame de imagem.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5A7299"/>
                </a:solidFill>
                <a:latin typeface="Inter Tight"/>
              </a:rPr>
              <a:t>Um chatbot que centraliza e comunica corretamente as orientações de preparo dos exames do setor de imagem do HC-UFPE.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2356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 spc="140">
                <a:solidFill>
                  <a:srgbClr val="5A7299"/>
                </a:solidFill>
                <a:latin typeface="Inter Tight"/>
              </a:rPr>
              <a:t>CLIENTE</a:t>
            </a:r>
          </a:p>
          <a:p>
            <a:pPr algn="l"/>
            <a:r>
              <a:rPr sz="1300" b="1" i="0">
                <a:solidFill>
                  <a:srgbClr val="0B2545"/>
                </a:solidFill>
                <a:latin typeface="Inter Tight"/>
              </a:rPr>
              <a:t>Unidade de Diagnóstico por Imagem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2978" y="58064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 spc="140">
                <a:solidFill>
                  <a:srgbClr val="5A7299"/>
                </a:solidFill>
                <a:latin typeface="Inter Tight"/>
              </a:rPr>
              <a:t>ABORDAGEM</a:t>
            </a:r>
          </a:p>
          <a:p>
            <a:pPr algn="l"/>
            <a:r>
              <a:rPr sz="1300" b="1" i="0">
                <a:solidFill>
                  <a:srgbClr val="0B2545"/>
                </a:solidFill>
                <a:latin typeface="Inter Tight"/>
              </a:rPr>
              <a:t>Next.js · Serverless · 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8716" y="58064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 spc="140">
                <a:solidFill>
                  <a:srgbClr val="5A7299"/>
                </a:solidFill>
                <a:latin typeface="Inter Tight"/>
              </a:rPr>
              <a:t>APRESENTAÇÃO</a:t>
            </a:r>
          </a:p>
          <a:p>
            <a:pPr algn="l"/>
            <a:r>
              <a:rPr sz="1300" b="1" i="0">
                <a:solidFill>
                  <a:srgbClr val="0B2545"/>
                </a:solidFill>
                <a:latin typeface="Inter Tight"/>
              </a:rPr>
              <a:t>15 min + 5 min de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MOTIVAÇÃO ·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A orientação certa </a:t>
            </a:r>
            <a:r>
              <a:rPr sz="3800" i="1">
                <a:solidFill>
                  <a:srgbClr val="14418A"/>
                </a:solidFill>
                <a:latin typeface="Georgia"/>
              </a:rPr>
              <a:t>não chega</a:t>
            </a:r>
            <a:r>
              <a:rPr sz="3800" i="0">
                <a:solidFill>
                  <a:srgbClr val="0B2545"/>
                </a:solidFill>
                <a:latin typeface="Georgia"/>
              </a:rPr>
              <a:t> a quem realiza o exame.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7299"/>
                </a:solidFill>
                <a:latin typeface="Inter Tight"/>
              </a:rPr>
              <a:t>Preparo, jejum, contraste, documentação e forma de marcar estão dispersos entre planilhas, PDFs e folhas físicas. Quando a orientação falha, o exame remarca.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DCE8FA"/>
                </a:solidFill>
                <a:latin typeface="Georgia"/>
              </a:rPr>
              <a:t>01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Solicitação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Médico registra o exame no AGHU durante a consulta.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0183" y="374904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DCE8FA"/>
                </a:solidFill>
                <a:latin typeface="Georgia"/>
              </a:rPr>
              <a:t>02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Marcação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Paciente ou enfermagem agenda — sem padrão único.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9497" y="374904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5867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1D6FE0"/>
                </a:solidFill>
                <a:latin typeface="Georgia"/>
              </a:rPr>
              <a:t>03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Orientação falha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Preparo não é passado corretamente ao paciente.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8811" y="374904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5181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1D6FE0"/>
                </a:solidFill>
                <a:latin typeface="Georgia"/>
              </a:rPr>
              <a:t>04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Remarcação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Vaga desperdiçada, fila cresce, eficiência cai.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5A7299"/>
                </a:solidFill>
                <a:latin typeface="Inter Tight"/>
              </a:rPr>
              <a:t>VALIDADO EM 3 VISITAS COM TIAGO JORNADA E KAROLINE ANDRADE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BASE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814 exames ingeridos, </a:t>
            </a:r>
            <a:r>
              <a:rPr sz="3600" i="1">
                <a:solidFill>
                  <a:srgbClr val="14418A"/>
                </a:solidFill>
                <a:latin typeface="Georgia"/>
              </a:rPr>
              <a:t>3 fontes</a:t>
            </a:r>
            <a:r>
              <a:rPr sz="3600" i="0">
                <a:solidFill>
                  <a:srgbClr val="0B2545"/>
                </a:solidFill>
                <a:latin typeface="Georgia"/>
              </a:rPr>
              <a:t>, 7 modalidades.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3237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304288"/>
            <a:ext cx="282031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FONTE 01 · DIGITAL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Catálogo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A7299"/>
                </a:solidFill>
                <a:latin typeface="Inter Tight"/>
              </a:rPr>
              <a:t>Planilha com 914 linhas → 814 exames únicos: nome, sigla, sinônimos, modalidade.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658" y="2103120"/>
            <a:ext cx="333237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690" y="2304288"/>
            <a:ext cx="282031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FONTE 02 · DIGITAL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Orientações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A7299"/>
                </a:solidFill>
                <a:latin typeface="Inter Tight"/>
              </a:rPr>
              <a:t>Documento por modalidade: gerais, por grupo e específicos. Cobre USG, RM, MMG,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2103120"/>
            <a:ext cx="3332378" cy="15544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8108" y="2304288"/>
            <a:ext cx="282031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FONTE 03 · NO PAPEL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Folhas físicas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A7299"/>
                </a:solidFill>
                <a:latin typeface="Inter Tight"/>
              </a:rPr>
              <a:t>Preparos de TC, RX e Medicina Nuclear — ainda a digitalizar.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86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B2545"/>
                </a:solidFill>
                <a:latin typeface="Inter Tight"/>
              </a:rPr>
              <a:t>Tomografia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3986784"/>
            <a:ext cx="603504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71800" y="3986784"/>
            <a:ext cx="6035040" cy="146304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3886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4418A"/>
                </a:solidFill>
                <a:latin typeface="Inter Tight"/>
              </a:rPr>
              <a:t>0/259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B2545"/>
                </a:solidFill>
                <a:latin typeface="Inter Tight"/>
              </a:rPr>
              <a:t>Radiologia Conv.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71800" y="4398264"/>
            <a:ext cx="603504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71800" y="4398264"/>
            <a:ext cx="4939878" cy="146304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71800" y="4398264"/>
            <a:ext cx="4753467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42976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4418A"/>
                </a:solidFill>
                <a:latin typeface="Inter Tight"/>
              </a:rPr>
              <a:t>204/212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B2545"/>
                </a:solidFill>
                <a:latin typeface="Inter Tight"/>
              </a:rPr>
              <a:t>Ressonância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71800" y="4809744"/>
            <a:ext cx="603504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71800" y="4809744"/>
            <a:ext cx="4497153" cy="146304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71800" y="4809744"/>
            <a:ext cx="4497153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4418A"/>
                </a:solidFill>
                <a:latin typeface="Inter Tight"/>
              </a:rPr>
              <a:t>193/193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1206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B2545"/>
                </a:solidFill>
                <a:latin typeface="Inter Tight"/>
              </a:rPr>
              <a:t>Ultrassonografia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71800" y="5221224"/>
            <a:ext cx="603504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971800" y="5221224"/>
            <a:ext cx="2516541" cy="146304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971800" y="5221224"/>
            <a:ext cx="372821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20" y="5120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4418A"/>
                </a:solidFill>
                <a:latin typeface="Inter Tight"/>
              </a:rPr>
              <a:t>16/108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532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B2545"/>
                </a:solidFill>
                <a:latin typeface="Inter Tight"/>
              </a:rPr>
              <a:t>Medicina Nuclear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1800" y="5632704"/>
            <a:ext cx="603504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971800" y="5632704"/>
            <a:ext cx="745642" cy="146304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5532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4418A"/>
                </a:solidFill>
                <a:latin typeface="Inter Tight"/>
              </a:rPr>
              <a:t>0/32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B2545"/>
                </a:solidFill>
                <a:latin typeface="Inter Tight"/>
              </a:rPr>
              <a:t>Mamografia / Densit.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71800" y="6044184"/>
            <a:ext cx="603504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71800" y="6044184"/>
            <a:ext cx="233013" cy="146304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971800" y="6044184"/>
            <a:ext cx="233013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89720" y="5943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4418A"/>
                </a:solidFill>
                <a:latin typeface="Inter Tight"/>
              </a:rPr>
              <a:t>10/10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71800" y="640080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■ </a:t>
            </a:r>
            <a:r>
              <a:rPr sz="1000">
                <a:solidFill>
                  <a:srgbClr val="5A7299"/>
                </a:solidFill>
                <a:latin typeface="Inter Tight"/>
              </a:rPr>
              <a:t>com preparo confirmado    </a:t>
            </a:r>
            <a:r>
              <a:rPr sz="1000">
                <a:solidFill>
                  <a:srgbClr val="DCE8FA"/>
                </a:solidFill>
                <a:latin typeface="Inter Tight"/>
              </a:rPr>
              <a:t>■ </a:t>
            </a:r>
            <a:r>
              <a:rPr sz="1000">
                <a:solidFill>
                  <a:srgbClr val="5A7299"/>
                </a:solidFill>
                <a:latin typeface="Inter Tight"/>
              </a:rPr>
              <a:t>pendente → roteado ao setor com segurança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5A7299"/>
                </a:solidFill>
                <a:latin typeface="Inter Tight"/>
              </a:rPr>
              <a:t>423 EXAMES COM PREPARO CONFIRMADO · 391 PENDENTES COM FALLBACK SEGURO (NUNCA PRESUME DISPENSA)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Chatbot de acesso aberto que </a:t>
            </a:r>
            <a:r>
              <a:rPr sz="3600" i="1">
                <a:solidFill>
                  <a:srgbClr val="14418A"/>
                </a:solidFill>
                <a:latin typeface="Georgia"/>
              </a:rPr>
              <a:t>adapta o tom</a:t>
            </a:r>
            <a:r>
              <a:rPr sz="3600" i="0">
                <a:solidFill>
                  <a:srgbClr val="0B2545"/>
                </a:solidFill>
                <a:latin typeface="Georgia"/>
              </a:rPr>
              <a:t> ao usuário.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7299"/>
                </a:solidFill>
                <a:latin typeface="Inter Tight"/>
              </a:rPr>
              <a:t>Uma pergunta em linguagem natural. A resposta vem só dos documentos oficiais — nunca inventada — e no nível certo para quem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83280"/>
            <a:ext cx="509000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3703320"/>
            <a:ext cx="594360" cy="594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 i="0">
                <a:solidFill>
                  <a:srgbClr val="1D6FE0"/>
                </a:solidFill>
                <a:latin typeface="Inter Tight"/>
              </a:rPr>
              <a:t>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34840"/>
            <a:ext cx="444992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Paciente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Picker guiado: escolhe a modalidade, o exame e responde contraste / sedação / lado. Resposta em linguagem simples.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3383280"/>
            <a:ext cx="509000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44487" y="3703320"/>
            <a:ext cx="594360" cy="594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 i="0">
                <a:solidFill>
                  <a:srgbClr val="1D6FE0"/>
                </a:solidFill>
                <a:latin typeface="Inter Tight"/>
              </a:rPr>
              <a:t>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4434840"/>
            <a:ext cx="444992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Profissional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Linguagem técnica + código AGHU do exame para o cadastro. Protocolos, contraste, sedação e fluxo de agendamento.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5A7299"/>
                </a:solidFill>
                <a:latin typeface="Inter Tight"/>
              </a:rPr>
              <a:t>FORA DO ESCOPO · NAVEGAÇÃO PELO CORPO HUMANO · MARCAÇÃO REAL · DADOS DE PACIENTE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METODOLOGIA · PIPELINE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Um script de ingestão monta a base, </a:t>
            </a:r>
            <a:r>
              <a:rPr sz="3400" i="1">
                <a:solidFill>
                  <a:srgbClr val="14418A"/>
                </a:solidFill>
                <a:latin typeface="Georgia"/>
              </a:rPr>
              <a:t>não a mão.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59684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59152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Ler o catálogo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Parseia as 914 linhas da planilha e deduplica por sigla + modalidade → 814 exames únicos.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846068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63824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145536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Mapear preparo por regra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Cada exame recebe um preparo_id por modalidade + contraste + sedação, reaproveitando os preparos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32452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950208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931920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Rotear pendentes com segurança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Exame sem preparo confirmado → fallback 'confirme com o setor'. NUNCA presume que dispensa preparo.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18836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736592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18304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Validar integridade (FK)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Todo preparo_id tem de existir; senão o script falha. Determinístico e idempotente.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20522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552297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504688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Emitir exames.json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Herança automática (geral + modalidade) evita redigir 814 registros à mão. npm run ingest.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METODOLOGIA ·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Uma aplicação,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custo próximo de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7744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40">
                <a:solidFill>
                  <a:srgbClr val="1D6FE0"/>
                </a:solidFill>
                <a:latin typeface="Inter Tight"/>
              </a:rPr>
              <a:t>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542032"/>
            <a:ext cx="76196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2545"/>
                </a:solidFill>
                <a:latin typeface="Inter Tight"/>
              </a:rPr>
              <a:t>Next.js (React)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Chat, picker guiado e seletor de perfil, responsivo. Servido por CDN.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107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40">
                <a:solidFill>
                  <a:srgbClr val="1D6FE0"/>
                </a:solidFill>
                <a:latin typeface="Inter Tight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005072"/>
            <a:ext cx="76196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2545"/>
                </a:solidFill>
                <a:latin typeface="Inter Tight"/>
              </a:rPr>
              <a:t>Função serverless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Busca o exame, monta o contexto por perfil e chama o modelo. Protege a chave. Sem servidor.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0352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303520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40">
                <a:solidFill>
                  <a:srgbClr val="1D6FE0"/>
                </a:solidFill>
                <a:latin typeface="Inter Tight"/>
              </a:rPr>
              <a:t>DADOS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468112"/>
            <a:ext cx="76196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2545"/>
                </a:solidFill>
                <a:latin typeface="Inter Tight"/>
              </a:rPr>
              <a:t>JSON em memória + busca textual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814 exames; busca por nome/sigla/sinônimos é instantânea — dispensa banco vetorial.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5A7299"/>
                </a:solidFill>
                <a:latin typeface="Inter Tight"/>
              </a:rPr>
              <a:t>NEXT.JS · VERCEL · CLAUDE (ANTHROPIC) · JSON EM MEMÓRIA COM FALLBACK DETERMINÍSTICO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RESULTADOS ALCANÇADOS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Assistente </a:t>
            </a:r>
            <a:r>
              <a:rPr sz="3600" i="1">
                <a:solidFill>
                  <a:srgbClr val="14418A"/>
                </a:solidFill>
                <a:latin typeface="Georgia"/>
              </a:rPr>
              <a:t>funcional e navegável</a:t>
            </a:r>
            <a:r>
              <a:rPr sz="3600" i="0">
                <a:solidFill>
                  <a:srgbClr val="0B2545"/>
                </a:solidFill>
                <a:latin typeface="Georgia"/>
              </a:rPr>
              <a:t>, on-brand.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814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exames reconhecidos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5123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3723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423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com preparo confirmado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2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perfis + código AGHU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0891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491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0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dado pessoal coletado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69080"/>
            <a:ext cx="3332378" cy="1737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278373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Picker guiado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Modalidade → exame → contraste / sedação / lado, com busca. Pedido da Karol no 3º checkpoint.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9658" y="4069080"/>
            <a:ext cx="3332378" cy="1737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3978" y="4325112"/>
            <a:ext cx="278373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Código AGHU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Profissional busca o exame e recebe o código para o cadastro. Paciente nunca vê o código.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2076" y="4069080"/>
            <a:ext cx="3332378" cy="1737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6396" y="4325112"/>
            <a:ext cx="278373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Guardrails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Recusa explícita quando falta info; pendentes roteados ao setor. Não substitui a equipe.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RESULTADOS · O PRODUTO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Da pergunta à orientação,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com a fonte.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66928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669280" cy="6400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0B2545"/>
                </a:solidFill>
                <a:latin typeface="Georgia"/>
              </a:rPr>
              <a:t>Assistente UDI HC-UFPE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432304"/>
            <a:ext cx="1143000" cy="3474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4418A"/>
                </a:solidFill>
                <a:latin typeface="Inter Tight"/>
              </a:rPr>
              <a:t>Paciente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154680"/>
            <a:ext cx="3291840" cy="658368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Inter Tight"/>
              </a:rPr>
              <a:t>Preciso de jejum para ressonância com contraste?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950208"/>
            <a:ext cx="3840480" cy="89611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2545"/>
                </a:solidFill>
                <a:latin typeface="Inter Tight"/>
              </a:rPr>
              <a:t>Sim. Mantenha jejum de 4 horas. Leve o pedido médico e um documento com foto.</a:t>
            </a:r>
          </a:p>
          <a:p>
            <a:pPr algn="l"/>
            <a:r>
              <a:rPr sz="800" b="1" i="0" spc="60">
                <a:solidFill>
                  <a:srgbClr val="14418A"/>
                </a:solidFill>
                <a:latin typeface="Inter Tight"/>
              </a:rPr>
              <a:t>FONTE · ORIENTAÇÕES RM · HC-UFPE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49834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Inter Tight"/>
              </a:rPr>
              <a:t>E onde eu marco?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577840"/>
            <a:ext cx="3840480" cy="89611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2545"/>
                </a:solidFill>
                <a:latin typeface="Inter Tight"/>
              </a:rPr>
              <a:t>Na central de marcação do hospital, presencialmente.</a:t>
            </a:r>
          </a:p>
          <a:p>
            <a:pPr algn="l"/>
            <a:r>
              <a:rPr sz="800" b="1" i="0" spc="60">
                <a:solidFill>
                  <a:srgbClr val="14418A"/>
                </a:solidFill>
                <a:latin typeface="Inter Tight"/>
              </a:rPr>
              <a:t>FONTE · FLUXO DE AGENDAMENTO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468880"/>
            <a:ext cx="4327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Picker guiado (paciente)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Escolhe modalidade e exame, responde contraste/sedação — sem saber o nome técnico.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703320"/>
            <a:ext cx="4327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Código AGHU (profissional)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Busca o exame e recebe o código para o cadastro na AGHU. Paciente nunca vê.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4937760"/>
            <a:ext cx="4327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Fundamentação + tom por perfil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Resposta só dos documentos oficiais, no registro certo para cada público.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ANÁLISE CRÍTICA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Pontos fortes </a:t>
            </a:r>
            <a:r>
              <a:rPr sz="3800" i="1">
                <a:solidFill>
                  <a:srgbClr val="14418A"/>
                </a:solidFill>
                <a:latin typeface="Georgia"/>
              </a:rPr>
              <a:t>e</a:t>
            </a:r>
            <a:r>
              <a:rPr sz="3800" i="0">
                <a:solidFill>
                  <a:srgbClr val="0B2545"/>
                </a:solidFill>
                <a:latin typeface="Georgia"/>
              </a:rPr>
              <a:t> limitações.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14418A"/>
                </a:solidFill>
                <a:latin typeface="Inter Tight"/>
              </a:rPr>
              <a:t>▲ PONTOS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Cobertura ampla e honesta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814 exames reconhecidos; 423 com preparo real, o resto roteado com segurança ao setor.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6908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Segurança clínica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Nunca presume que dispensa preparo; sem info, recusa e indica o setor.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Custo e privacidade mínimos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Serverless + JSON em memória; sem login nem dado de paciente — LGPD reduzida.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28600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5A7299"/>
                </a:solidFill>
                <a:latin typeface="Inter Tight"/>
              </a:rPr>
              <a:t>▼ LIMITAÇÕES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88036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Sem testes com usuários finais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Restrição do projeto — validação só com os profissionais do HC.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406908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391 exames sem preparo confirmado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TC e Medicina Nuclear dependem das folhas físicas ainda por digitalizar.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525780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Nomes com typos na planilha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Alguns rótulos herdam erros da fonte; correção é curadoria incremental.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7" y="2286000"/>
            <a:ext cx="12700" cy="393192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POSSIBILIDADES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Se continuássemos, </a:t>
            </a:r>
            <a:r>
              <a:rPr sz="3800" i="1">
                <a:solidFill>
                  <a:srgbClr val="14418A"/>
                </a:solidFill>
                <a:latin typeface="Georgia"/>
              </a:rPr>
              <a:t>nesta ordem.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1D6FE0"/>
                </a:solidFill>
                <a:latin typeface="Inter Tight"/>
              </a:rPr>
              <a:t>PRIORIDADE 01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Preencher preparos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Digitalizar folhas de TC e Medicina Nuclear → tirar 391 exames do pendente.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5123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1155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1D6FE0"/>
                </a:solidFill>
                <a:latin typeface="Inter Tight"/>
              </a:rPr>
              <a:t>PRIORIDADE 02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Curar rótulos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Corrigir typos herdados da planilha nos nomes exibidos.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9039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1D6FE0"/>
                </a:solidFill>
                <a:latin typeface="Inter Tight"/>
              </a:rPr>
              <a:t>PRIORIDADE 03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Corpo humano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Reintroduzir navegação visual por região do corpo.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0891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6923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7FB0F2"/>
                </a:solidFill>
                <a:latin typeface="Inter Tight"/>
              </a:rPr>
              <a:t>PRIORIDADE 04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Georgia"/>
              </a:rPr>
              <a:t>Painel de edição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EC3E6"/>
                </a:solidFill>
                <a:latin typeface="Inter Tight"/>
              </a:rPr>
              <a:t>Equipe do HC edita conteúdo sem programador (ex.: Supabase).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-914400"/>
            <a:ext cx="7315200" cy="5486400"/>
          </a:xfrm>
          <a:prstGeom prst="rect">
            <a:avLst/>
          </a:prstGeom>
          <a:solidFill>
            <a:srgbClr val="14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7FB0F2"/>
                </a:solidFill>
                <a:latin typeface="Inter Tight"/>
              </a:rPr>
              <a:t>● </a:t>
            </a:r>
            <a:r>
              <a:rPr sz="1100" b="1" spc="260">
                <a:solidFill>
                  <a:srgbClr val="7FB0F2"/>
                </a:solidFill>
                <a:latin typeface="Inter Tight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000">
                <a:solidFill>
                  <a:srgbClr val="FFFFFF"/>
                </a:solidFill>
                <a:latin typeface="Georgia"/>
              </a:rPr>
              <a:t>Vamos ver </a:t>
            </a:r>
            <a:r>
              <a:rPr sz="5000" i="1">
                <a:solidFill>
                  <a:srgbClr val="7FB0F2"/>
                </a:solidFill>
                <a:latin typeface="Georgia"/>
              </a:rPr>
              <a:t>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AEC3E6"/>
                </a:solidFill>
                <a:latin typeface="Inter Tight"/>
              </a:rPr>
              <a:t>Assistente conversacional de exames de imagem — HC-UFPE · Tópicos Avançados 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97680"/>
            <a:ext cx="3566160" cy="59436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 Tight"/>
              </a:rPr>
              <a:t>Iniciar demonstração ao vivo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94960"/>
            <a:ext cx="10637215" cy="12700"/>
          </a:xfrm>
          <a:prstGeom prst="rect">
            <a:avLst/>
          </a:prstGeom>
          <a:solidFill>
            <a:srgbClr val="2A4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AEC3E6"/>
                </a:solidFill>
                <a:latin typeface="Inter Tight"/>
              </a:rPr>
              <a:t>Antonio Robério      </a:t>
            </a:r>
            <a:r>
              <a:rPr sz="1200">
                <a:solidFill>
                  <a:srgbClr val="AEC3E6"/>
                </a:solidFill>
                <a:latin typeface="Inter Tight"/>
              </a:rPr>
              <a:t>Ithalo      </a:t>
            </a:r>
            <a:r>
              <a:rPr sz="1200">
                <a:solidFill>
                  <a:srgbClr val="AEC3E6"/>
                </a:solidFill>
                <a:latin typeface="Inter Tight"/>
              </a:rPr>
              <a:t>Mateus Ataide      </a:t>
            </a:r>
            <a:r>
              <a:rPr sz="1200">
                <a:solidFill>
                  <a:srgbClr val="AEC3E6"/>
                </a:solidFill>
                <a:latin typeface="Inter Tight"/>
              </a:rPr>
              <a:t>Eric Barreto      </a:t>
            </a:r>
            <a:r>
              <a:rPr sz="1200">
                <a:solidFill>
                  <a:srgbClr val="AEC3E6"/>
                </a:solidFill>
                <a:latin typeface="Inter Tight"/>
              </a:rPr>
              <a:t>Joyce Santana      </a:t>
            </a:r>
            <a:r>
              <a:rPr sz="1200">
                <a:solidFill>
                  <a:srgbClr val="AEC3E6"/>
                </a:solidFill>
                <a:latin typeface="Inter Tight"/>
              </a:rPr>
              <a:t>Mateus Guerra      </a:t>
            </a:r>
            <a:r>
              <a:rPr sz="1200">
                <a:solidFill>
                  <a:srgbClr val="AEC3E6"/>
                </a:solidFill>
                <a:latin typeface="Inter Tight"/>
              </a:rPr>
              <a:t>Luís Felipe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