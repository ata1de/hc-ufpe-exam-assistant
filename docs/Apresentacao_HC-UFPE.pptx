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85455" y="0"/>
            <a:ext cx="4206240" cy="283464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1D6FE0"/>
                </a:solidFill>
                <a:latin typeface="Inter Tight"/>
              </a:rPr>
              <a:t>◆ </a:t>
            </a:r>
            <a:r>
              <a:rPr sz="1000" b="1" spc="260">
                <a:solidFill>
                  <a:srgbClr val="14418A"/>
                </a:solidFill>
                <a:latin typeface="Inter Tight"/>
              </a:rPr>
              <a:t>HC-UFPE · DIAGNÓSTICO POR IMAGEM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91295" y="50292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 spc="120">
                <a:solidFill>
                  <a:srgbClr val="14418A"/>
                </a:solidFill>
                <a:latin typeface="Inter Tight"/>
              </a:rPr>
              <a:t>TÓPICOS AVANÇADOS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ASSISTENTE CONVERSACIONAL DE EXAMES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4600" i="0">
                <a:solidFill>
                  <a:srgbClr val="0B2545"/>
                </a:solidFill>
                <a:latin typeface="Georgia"/>
              </a:rPr>
              <a:t>Saiba exatamente como </a:t>
            </a:r>
            <a:r>
              <a:rPr sz="4600" i="1">
                <a:solidFill>
                  <a:srgbClr val="14418A"/>
                </a:solidFill>
                <a:latin typeface="Georgia"/>
              </a:rPr>
              <a:t>se preparar</a:t>
            </a:r>
            <a:r>
              <a:rPr sz="4600" i="0">
                <a:solidFill>
                  <a:srgbClr val="0B2545"/>
                </a:solidFill>
                <a:latin typeface="Georgia"/>
              </a:rPr>
              <a:t> para o seu exame de imagem.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7299"/>
                </a:solidFill>
                <a:latin typeface="Inter Tight"/>
              </a:rPr>
              <a:t>Um chatbot que centraliza e comunica corretamente as orientações de preparo dos exames do setor de imagem do HC-UFPE.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532120"/>
            <a:ext cx="1054577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760720"/>
            <a:ext cx="49985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 spc="140">
                <a:solidFill>
                  <a:srgbClr val="5A7299"/>
                </a:solidFill>
                <a:latin typeface="Inter Tight"/>
              </a:rPr>
              <a:t>CLIENTE</a:t>
            </a:r>
          </a:p>
          <a:p>
            <a:pPr algn="l"/>
            <a:r>
              <a:rPr sz="1350" b="1" i="0">
                <a:solidFill>
                  <a:srgbClr val="0B2545"/>
                </a:solidFill>
                <a:latin typeface="Inter Tight"/>
              </a:rPr>
              <a:t>Unidade de Diagnóstico por Imagem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5760720"/>
            <a:ext cx="49985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 spc="140">
                <a:solidFill>
                  <a:srgbClr val="5A7299"/>
                </a:solidFill>
                <a:latin typeface="Inter Tight"/>
              </a:rPr>
              <a:t>ABORDAGEM</a:t>
            </a:r>
          </a:p>
          <a:p>
            <a:pPr algn="l"/>
            <a:r>
              <a:rPr sz="1350" b="1" i="0">
                <a:solidFill>
                  <a:srgbClr val="0B2545"/>
                </a:solidFill>
                <a:latin typeface="Inter Tight"/>
              </a:rPr>
              <a:t>Next.js · Serverless ·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MOTIVAÇÃO ·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A orientação certa </a:t>
            </a:r>
            <a:r>
              <a:rPr sz="3400" i="1">
                <a:solidFill>
                  <a:srgbClr val="14418A"/>
                </a:solidFill>
                <a:latin typeface="Georgia"/>
              </a:rPr>
              <a:t>não chega</a:t>
            </a:r>
            <a:r>
              <a:rPr sz="3400" i="0">
                <a:solidFill>
                  <a:srgbClr val="0B2545"/>
                </a:solidFill>
                <a:latin typeface="Georgia"/>
              </a:rPr>
              <a:t> a quem realiza o exame.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7299"/>
                </a:solidFill>
                <a:latin typeface="Inter Tight"/>
              </a:rPr>
              <a:t>Preparo, jejum, contraste, documentação e forma de marcar estão dispersos entre planilhas, PDFs e folhas físicas. Quando a orientação falha, o exame remarca.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2224963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 i="0">
                <a:solidFill>
                  <a:srgbClr val="DCE8FA"/>
                </a:solidFill>
                <a:latin typeface="Georgia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Solicitação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Médico registra o exame no AGHU durante a consulta.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7963" y="370332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0843" y="3566160"/>
            <a:ext cx="2224963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 i="0">
                <a:solidFill>
                  <a:srgbClr val="DCE8FA"/>
                </a:solidFill>
                <a:latin typeface="Georgia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Marcação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Paciente ou enfermagem agenda — sem padrão único.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847" y="370332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3566160"/>
            <a:ext cx="2224963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 i="0">
                <a:solidFill>
                  <a:srgbClr val="1D6FE0"/>
                </a:solidFill>
                <a:latin typeface="Georgia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Orientação falha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O preparo não é passado corretamente ao paciente.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731" y="3703320"/>
            <a:ext cx="12700" cy="173736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611" y="3566160"/>
            <a:ext cx="2224963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 i="0">
                <a:solidFill>
                  <a:srgbClr val="1D6FE0"/>
                </a:solidFill>
                <a:latin typeface="Georgia"/>
              </a:rPr>
              <a:t>04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Remarcação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Vaga desperdiçada, fila cresce, eficiência cai.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 spc="30">
                <a:solidFill>
                  <a:srgbClr val="5A7299"/>
                </a:solidFill>
                <a:latin typeface="Inter Tight"/>
              </a:rPr>
              <a:t>Validado em 3 visitas com Tiago Jornada e Karoline Andrade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BASE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814 exames ingeridos, </a:t>
            </a:r>
            <a:r>
              <a:rPr sz="3400" i="1">
                <a:solidFill>
                  <a:srgbClr val="14418A"/>
                </a:solidFill>
                <a:latin typeface="Georgia"/>
              </a:rPr>
              <a:t>3 fontes</a:t>
            </a:r>
            <a:r>
              <a:rPr sz="3400" i="0">
                <a:solidFill>
                  <a:srgbClr val="0B2545"/>
                </a:solidFill>
                <a:latin typeface="Georgia"/>
              </a:rPr>
              <a:t>, 7 modalidades.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30189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275325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 spc="100">
                <a:solidFill>
                  <a:srgbClr val="1D6FE0"/>
                </a:solidFill>
                <a:latin typeface="Inter Tight"/>
              </a:rPr>
              <a:t>FONTE 01 · DIGITAL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Catálogo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914 linhas → 814 exames únicos: nome, sigla, sinônimos e modalidade.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11680"/>
            <a:ext cx="330189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9218" y="2240280"/>
            <a:ext cx="275325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 spc="100">
                <a:solidFill>
                  <a:srgbClr val="1D6FE0"/>
                </a:solidFill>
                <a:latin typeface="Inter Tight"/>
              </a:rPr>
              <a:t>FONTE 02 · DIGITAL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Orientações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Preparos organizados por modalidade. Cobre USG, RM, MMG e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6836" y="2011680"/>
            <a:ext cx="3301898" cy="15544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1156" y="2240280"/>
            <a:ext cx="275325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 spc="100">
                <a:solidFill>
                  <a:srgbClr val="1D6FE0"/>
                </a:solidFill>
                <a:latin typeface="Inter Tight"/>
              </a:rPr>
              <a:t>FONTE 03 · NO PAPEL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Folhas físicas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Preparos de TC, RX e Medicina Nuclear — ainda a digitalizar.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B2545"/>
                </a:solidFill>
                <a:latin typeface="Inter Tight"/>
              </a:rPr>
              <a:t>Tomografia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4087367"/>
            <a:ext cx="6035040" cy="146304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0" y="4087367"/>
            <a:ext cx="6035040" cy="146304"/>
          </a:xfrm>
          <a:prstGeom prst="roundRect">
            <a:avLst>
              <a:gd name="adj" fmla="val 8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39776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0/259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4339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B2545"/>
                </a:solidFill>
                <a:latin typeface="Inter Tight"/>
              </a:rPr>
              <a:t>Radiologia Conv.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4453127"/>
            <a:ext cx="6035040" cy="146304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0" y="4453127"/>
            <a:ext cx="4939878" cy="146304"/>
          </a:xfrm>
          <a:prstGeom prst="roundRect">
            <a:avLst>
              <a:gd name="adj" fmla="val 8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4453127"/>
            <a:ext cx="4753467" cy="146304"/>
          </a:xfrm>
          <a:prstGeom prst="roundRect">
            <a:avLst>
              <a:gd name="adj" fmla="val 8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434339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204/212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5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B2545"/>
                </a:solidFill>
                <a:latin typeface="Inter Tight"/>
              </a:rPr>
              <a:t>Ressonância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4818887"/>
            <a:ext cx="6035040" cy="146304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4818887"/>
            <a:ext cx="4497153" cy="146304"/>
          </a:xfrm>
          <a:prstGeom prst="roundRect">
            <a:avLst>
              <a:gd name="adj" fmla="val 8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200400" y="4818887"/>
            <a:ext cx="4497153" cy="146304"/>
          </a:xfrm>
          <a:prstGeom prst="roundRect">
            <a:avLst>
              <a:gd name="adj" fmla="val 8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470915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193/193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1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B2545"/>
                </a:solidFill>
                <a:latin typeface="Inter Tight"/>
              </a:rPr>
              <a:t>Ultrassonografia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5184647"/>
            <a:ext cx="6035040" cy="146304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00400" y="5184647"/>
            <a:ext cx="2516541" cy="146304"/>
          </a:xfrm>
          <a:prstGeom prst="roundRect">
            <a:avLst>
              <a:gd name="adj" fmla="val 8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5184647"/>
            <a:ext cx="372821" cy="146304"/>
          </a:xfrm>
          <a:prstGeom prst="roundRect">
            <a:avLst>
              <a:gd name="adj" fmla="val 8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507491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16/108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44067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B2545"/>
                </a:solidFill>
                <a:latin typeface="Inter Tight"/>
              </a:rPr>
              <a:t>Medicina Nuclear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0" y="5550407"/>
            <a:ext cx="6035040" cy="146304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200400" y="5550407"/>
            <a:ext cx="745642" cy="146304"/>
          </a:xfrm>
          <a:prstGeom prst="roundRect">
            <a:avLst>
              <a:gd name="adj" fmla="val 8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54406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0/32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80643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B2545"/>
                </a:solidFill>
                <a:latin typeface="Inter Tight"/>
              </a:rPr>
              <a:t>Mamografia / Densit.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0" y="5916167"/>
            <a:ext cx="6035040" cy="146304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00400" y="5916167"/>
            <a:ext cx="233013" cy="146304"/>
          </a:xfrm>
          <a:prstGeom prst="roundRect">
            <a:avLst>
              <a:gd name="adj" fmla="val 8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200400" y="5916167"/>
            <a:ext cx="233013" cy="146304"/>
          </a:xfrm>
          <a:prstGeom prst="roundRect">
            <a:avLst>
              <a:gd name="adj" fmla="val 8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58064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4418A"/>
                </a:solidFill>
                <a:latin typeface="Inter Tight"/>
              </a:rPr>
              <a:t>10/10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6263639"/>
            <a:ext cx="740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1D6FE0"/>
                </a:solidFill>
                <a:latin typeface="Inter Tight"/>
              </a:rPr>
              <a:t>■ </a:t>
            </a:r>
            <a:r>
              <a:rPr sz="950">
                <a:solidFill>
                  <a:srgbClr val="5A7299"/>
                </a:solidFill>
                <a:latin typeface="Inter Tight"/>
              </a:rPr>
              <a:t>com preparo confirmado     </a:t>
            </a:r>
            <a:r>
              <a:rPr sz="950">
                <a:solidFill>
                  <a:srgbClr val="DCE8FA"/>
                </a:solidFill>
                <a:latin typeface="Inter Tight"/>
              </a:rPr>
              <a:t>■ </a:t>
            </a:r>
            <a:r>
              <a:rPr sz="950">
                <a:solidFill>
                  <a:srgbClr val="5A7299"/>
                </a:solidFill>
                <a:latin typeface="Inter Tight"/>
              </a:rPr>
              <a:t>pendente → roteado ao setor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Chatbot de acesso aberto que </a:t>
            </a:r>
            <a:r>
              <a:rPr sz="3400" i="1">
                <a:solidFill>
                  <a:srgbClr val="14418A"/>
                </a:solidFill>
                <a:latin typeface="Georgia"/>
              </a:rPr>
              <a:t>adapta o tom</a:t>
            </a:r>
            <a:r>
              <a:rPr sz="3400" i="0">
                <a:solidFill>
                  <a:srgbClr val="0B2545"/>
                </a:solidFill>
                <a:latin typeface="Georgia"/>
              </a:rPr>
              <a:t> ao usuário.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7299"/>
                </a:solidFill>
                <a:latin typeface="Inter Tight"/>
              </a:rPr>
              <a:t>Uma pergunta em linguagem natural. A resposta vem só dos documentos oficiais — nunca inventada — e no nível certo para quem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46120"/>
            <a:ext cx="5044287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88720" y="3593592"/>
            <a:ext cx="594360" cy="5943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 i="0">
                <a:solidFill>
                  <a:srgbClr val="1D6FE0"/>
                </a:solidFill>
                <a:latin typeface="Inter Tight"/>
              </a:rPr>
              <a:t>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343400"/>
            <a:ext cx="4312767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Paciente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7299"/>
                </a:solidFill>
                <a:latin typeface="Inter Tight"/>
              </a:rPr>
              <a:t>Picker guiado: escolhe modalidade, exame e responde contraste, sedação e lado. Resposta em linguagem simples e acolhedora.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3246120"/>
            <a:ext cx="5044287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90207" y="3593592"/>
            <a:ext cx="594360" cy="5943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 i="0">
                <a:solidFill>
                  <a:srgbClr val="1D6FE0"/>
                </a:solidFill>
                <a:latin typeface="Inter Tight"/>
              </a:rPr>
              <a:t>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4343400"/>
            <a:ext cx="4312767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Profissional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7299"/>
                </a:solidFill>
                <a:latin typeface="Inter Tight"/>
              </a:rPr>
              <a:t>Linguagem técnica e o código AGHU do exame para o cadastro. Protocolos, contraste, sedação e fluxo de agendamento.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 spc="30">
                <a:solidFill>
                  <a:srgbClr val="5A7299"/>
                </a:solidFill>
                <a:latin typeface="Inter Tight"/>
              </a:rPr>
              <a:t>Fora do escopo · navegação pelo corpo humano · marcação real · dados de paciente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METODOLOGIA · PIPELINE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Um script de ingestão monta a base, </a:t>
            </a:r>
            <a:r>
              <a:rPr sz="3400" i="1">
                <a:solidFill>
                  <a:srgbClr val="14418A"/>
                </a:solidFill>
                <a:latin typeface="Georgia"/>
              </a:rPr>
              <a:t>não a mão.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77388"/>
            <a:ext cx="1054577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67712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258568"/>
            <a:ext cx="95399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Ler o catálogo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Parseia as 914 linhas da planilha e deduplica por sigla + modalidade → 814 exames únicos.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18636"/>
            <a:ext cx="1054577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1089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099816"/>
            <a:ext cx="95399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Mapear preparo por regra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Cada exame recebe um preparo_id por modalidade, contraste e sedação, reusando os preparos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659884"/>
            <a:ext cx="1054577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3950208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941064"/>
            <a:ext cx="95399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Rotear pendentes com segurança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Exame sem preparo confirmado cai num fallback — nunca presume que dispensa preparo.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501132"/>
            <a:ext cx="1054577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791456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782312"/>
            <a:ext cx="95399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Validar integridade (FK)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Todo preparo_id precisa existir; senão o script falha. Determinístico e idempotente.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342380"/>
            <a:ext cx="1054577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5632704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 Tigh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623560"/>
            <a:ext cx="9539935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B2545"/>
                </a:solidFill>
                <a:latin typeface="Inter Tight"/>
              </a:rPr>
              <a:t>Emitir exames.json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Herança automática (geral + modalidade) evita redigir 814 registros à mão. npm run ingest.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METODOLOGIA ·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Uma aplicação, </a:t>
            </a:r>
            <a:r>
              <a:rPr sz="3400" i="1">
                <a:solidFill>
                  <a:srgbClr val="14418A"/>
                </a:solidFill>
                <a:latin typeface="Georgia"/>
              </a:rPr>
              <a:t>custo próximo de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45775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9456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40">
                <a:solidFill>
                  <a:srgbClr val="1D6FE0"/>
                </a:solidFill>
                <a:latin typeface="Inter Tight"/>
              </a:rPr>
              <a:t>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395728"/>
            <a:ext cx="70710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B2545"/>
                </a:solidFill>
                <a:latin typeface="Inter Tight"/>
              </a:rPr>
              <a:t>Next.js (React)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Chat, picker guiado e seletor de perfil, responsivo. Servido por CDN.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255264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75888"/>
            <a:ext cx="10545775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675888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40">
                <a:solidFill>
                  <a:srgbClr val="1D6FE0"/>
                </a:solidFill>
                <a:latin typeface="Inter Tight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877056"/>
            <a:ext cx="70710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B2545"/>
                </a:solidFill>
                <a:latin typeface="Inter Tight"/>
              </a:rPr>
              <a:t>Função serverless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Busca o exame, monta o contexto por perfil e chama o modelo. Sem servidor a gerenciar.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73659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57216"/>
            <a:ext cx="10545775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5157216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40">
                <a:solidFill>
                  <a:srgbClr val="1D6FE0"/>
                </a:solidFill>
                <a:latin typeface="Inter Tight"/>
              </a:rPr>
              <a:t>DADOS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5358384"/>
            <a:ext cx="70710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B2545"/>
                </a:solidFill>
                <a:latin typeface="Inter Tight"/>
              </a:rPr>
              <a:t>JSON + busca textual em memória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814 exames; busca por nome, sigla e sinônimos é instantânea — sem banco vetorial.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276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 spc="30">
                <a:solidFill>
                  <a:srgbClr val="5A7299"/>
                </a:solidFill>
                <a:latin typeface="Inter Tight"/>
              </a:rPr>
              <a:t>Next.js · Vercel · Claude (Anthropic) · JSON em memória com fallback determinístico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RESULTADOS ALCANÇADOS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Assistente </a:t>
            </a:r>
            <a:r>
              <a:rPr sz="3400" i="1">
                <a:solidFill>
                  <a:srgbClr val="14418A"/>
                </a:solidFill>
                <a:latin typeface="Georgia"/>
              </a:rPr>
              <a:t>funcional e navegável</a:t>
            </a:r>
            <a:r>
              <a:rPr sz="3400" i="0">
                <a:solidFill>
                  <a:srgbClr val="0B2545"/>
                </a:solidFill>
                <a:latin typeface="Georgia"/>
              </a:rPr>
              <a:t>, on-brand.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8100" cy="128016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220210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814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exames reconhecidos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7983" y="2194560"/>
            <a:ext cx="38100" cy="128016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6583" y="2148840"/>
            <a:ext cx="220210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423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com preparo confirmado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194560"/>
            <a:ext cx="38100" cy="128016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2148840"/>
            <a:ext cx="220210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2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perfis + código AGHU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38031" y="2194560"/>
            <a:ext cx="38100" cy="128016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6631" y="2148840"/>
            <a:ext cx="220210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i="0">
                <a:solidFill>
                  <a:srgbClr val="14418A"/>
                </a:solidFill>
                <a:latin typeface="Georgia"/>
              </a:rPr>
              <a:t>0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dado pessoal coletado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69080"/>
            <a:ext cx="330189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325112"/>
            <a:ext cx="275325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Picker guiado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Modalidade → exame → contraste / sedação / lado, com busca. Pedido da Karol no 3º checkpoint.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4898" y="4069080"/>
            <a:ext cx="330189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9218" y="4325112"/>
            <a:ext cx="275325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Código AGHU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O profissional busca o exame e recebe o código para o cadastro. O paciente nunca vê.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6836" y="4069080"/>
            <a:ext cx="330189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1156" y="4325112"/>
            <a:ext cx="275325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B2545"/>
                </a:solidFill>
                <a:latin typeface="Georgia"/>
              </a:rPr>
              <a:t>Guardrails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Recusa explícita quando falta info; pendentes roteados ao setor. Não substitui a equipe.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RESULTADOS · O PRODUTO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Da pergunta à orientação, </a:t>
            </a:r>
            <a:r>
              <a:rPr sz="3400" i="1">
                <a:solidFill>
                  <a:srgbClr val="14418A"/>
                </a:solidFill>
                <a:latin typeface="Georgia"/>
              </a:rPr>
              <a:t>com a fonte.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6692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5669280" cy="62179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3657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2545"/>
                </a:solidFill>
                <a:latin typeface="Georgia"/>
              </a:rPr>
              <a:t>Assistente UDI HC-UFPE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04288"/>
            <a:ext cx="118872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4418A"/>
                </a:solidFill>
                <a:latin typeface="Inter Tight"/>
              </a:rPr>
              <a:t>Paciente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3017520"/>
            <a:ext cx="3383280" cy="603504"/>
          </a:xfrm>
          <a:prstGeom prst="roundRect">
            <a:avLst>
              <a:gd name="adj" fmla="val 8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FFFFFF"/>
                </a:solidFill>
                <a:latin typeface="Inter Tight"/>
              </a:rPr>
              <a:t>Preciso de jejum para ressonância com contraste?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767328"/>
            <a:ext cx="38404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B2545"/>
                </a:solidFill>
                <a:latin typeface="Inter Tight"/>
              </a:rPr>
              <a:t>Sim. Mantenha jejum de 4 horas. Leve o pedido médico e um documento com foto.</a:t>
            </a:r>
          </a:p>
          <a:p>
            <a:pPr algn="l"/>
            <a:r>
              <a:rPr sz="1000" b="1" i="0" spc="40">
                <a:solidFill>
                  <a:srgbClr val="14418A"/>
                </a:solidFill>
                <a:latin typeface="Inter Tight"/>
              </a:rPr>
              <a:t>Fonte · Orientações RM · HC-UFPE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736592"/>
            <a:ext cx="2011680" cy="402336"/>
          </a:xfrm>
          <a:prstGeom prst="roundRect">
            <a:avLst>
              <a:gd name="adj" fmla="val 8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FFFFFF"/>
                </a:solidFill>
                <a:latin typeface="Inter Tight"/>
              </a:rPr>
              <a:t>E onde eu marco?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285232"/>
            <a:ext cx="38404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B2545"/>
                </a:solidFill>
                <a:latin typeface="Inter Tight"/>
              </a:rPr>
              <a:t>Na central de marcação do hospital, presencialmente.</a:t>
            </a:r>
          </a:p>
          <a:p>
            <a:pPr algn="l"/>
            <a:r>
              <a:rPr sz="1000" b="1" i="0" spc="40">
                <a:solidFill>
                  <a:srgbClr val="14418A"/>
                </a:solidFill>
                <a:latin typeface="Inter Tight"/>
              </a:rPr>
              <a:t>Fonte · Fluxo de agendamento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514600"/>
            <a:ext cx="4236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Linguagem natural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7299"/>
                </a:solidFill>
                <a:latin typeface="Inter Tight"/>
              </a:rPr>
              <a:t>O usuário pergunta como falaria — sem conhecer a sigla técnica do exame.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794760"/>
            <a:ext cx="4236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Fundamentação visível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7299"/>
                </a:solidFill>
                <a:latin typeface="Inter Tight"/>
              </a:rPr>
              <a:t>Cada resposta aponta a origem no documento oficial do hospital.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074920"/>
            <a:ext cx="4236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D6FE0"/>
                </a:solidFill>
                <a:latin typeface="Inter Tight"/>
              </a:rPr>
              <a:t>→  </a:t>
            </a:r>
            <a:r>
              <a:rPr sz="1500" b="1">
                <a:solidFill>
                  <a:srgbClr val="0B2545"/>
                </a:solidFill>
                <a:latin typeface="Inter Tight"/>
              </a:rPr>
              <a:t>Tom por perfil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7299"/>
                </a:solidFill>
                <a:latin typeface="Inter Tight"/>
              </a:rPr>
              <a:t>A mesma base responde ao paciente e ao profissional em registros diferentes.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ANÁLISE CRÍTICA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Pontos fortes </a:t>
            </a:r>
            <a:r>
              <a:rPr sz="3400" i="1">
                <a:solidFill>
                  <a:srgbClr val="14418A"/>
                </a:solidFill>
                <a:latin typeface="Georgia"/>
              </a:rPr>
              <a:t>e</a:t>
            </a:r>
            <a:r>
              <a:rPr sz="3400" i="0">
                <a:solidFill>
                  <a:srgbClr val="0B2545"/>
                </a:solidFill>
                <a:latin typeface="Georgia"/>
              </a:rPr>
              <a:t> limitações.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4418A"/>
                </a:solidFill>
                <a:latin typeface="Inter Tight"/>
              </a:rPr>
              <a:t>▲ PONTOS FORTES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4815687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Cobertura ampla e honesta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814 exames reconhecidos; 423 com preparo real, o resto roteado com segurança ao setor.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59352"/>
            <a:ext cx="4815687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Segurança clínica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Nunca presume que o exame dispensa preparo; sem informação, recusa e indica o setor.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9784"/>
            <a:ext cx="4815687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Custo e privacidade mínimos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Serverless + JSON em memória; sem login nem dado de paciente — LGPD reduzida.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194560"/>
            <a:ext cx="48156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A7299"/>
                </a:solidFill>
                <a:latin typeface="Inter Tight"/>
              </a:rPr>
              <a:t>▼ LIMITAÇÕES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788920"/>
            <a:ext cx="4815687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Sem testes com usuários finais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Restrição do projeto — validação só com os profissionais do HC.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3959352"/>
            <a:ext cx="4815687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391 exames sem preparo confirmado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TC e Medicina Nuclear dependem das folhas físicas ainda por digitalizar.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5129784"/>
            <a:ext cx="4815687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450" b="1">
                <a:solidFill>
                  <a:srgbClr val="0B2545"/>
                </a:solidFill>
                <a:latin typeface="Inter Tight"/>
              </a:rPr>
              <a:t>Nomes com typos na planilha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Alguns rótulos herdam erros da fonte; correção é curadoria incremental.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7" y="2194560"/>
            <a:ext cx="12700" cy="384048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62895" y="5669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 spc="180">
                <a:solidFill>
                  <a:srgbClr val="5A7299"/>
                </a:solidFill>
                <a:latin typeface="Inter Tight"/>
              </a:rPr>
              <a:t>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8534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1D6FE0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5A7299"/>
                </a:solidFill>
                <a:latin typeface="Inter Tight"/>
              </a:rPr>
              <a:t>POSSIBILIDADES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Se continuássemos, </a:t>
            </a:r>
            <a:r>
              <a:rPr sz="3400" i="1">
                <a:solidFill>
                  <a:srgbClr val="14418A"/>
                </a:solidFill>
                <a:latin typeface="Georgia"/>
              </a:rPr>
              <a:t>nesta ordem.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2430703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78608"/>
            <a:ext cx="1882063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 spc="80">
                <a:solidFill>
                  <a:srgbClr val="1D6FE0"/>
                </a:solidFill>
                <a:latin typeface="Inter Tight"/>
              </a:rPr>
              <a:t>PRIORIDADE 01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Preencher preparos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Digitalizar as folhas de TC e Medicina Nuclear para tirar os 391 exames do estado pendente.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7983" y="2286000"/>
            <a:ext cx="2430703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02303" y="2578608"/>
            <a:ext cx="1882063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 spc="80">
                <a:solidFill>
                  <a:srgbClr val="1D6FE0"/>
                </a:solidFill>
                <a:latin typeface="Inter Tight"/>
              </a:rPr>
              <a:t>PRIORIDADE 02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Curar rótulos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Corrigir os typos herdados da planilha nos nomes exibidos ao paciente.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286000"/>
            <a:ext cx="2430703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2578608"/>
            <a:ext cx="1882063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 spc="80">
                <a:solidFill>
                  <a:srgbClr val="1D6FE0"/>
                </a:solidFill>
                <a:latin typeface="Inter Tight"/>
              </a:rPr>
              <a:t>PRIORIDADE 03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B2545"/>
                </a:solidFill>
                <a:latin typeface="Georgia"/>
              </a:rPr>
              <a:t>Corpo humano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7299"/>
                </a:solidFill>
                <a:latin typeface="Inter Tight"/>
              </a:rPr>
              <a:t>Reintroduzir a navegação visual por região do corpo.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8031" y="2286000"/>
            <a:ext cx="2430703" cy="338328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2351" y="2578608"/>
            <a:ext cx="1882063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 i="0" spc="80">
                <a:solidFill>
                  <a:srgbClr val="7FB0F2"/>
                </a:solidFill>
                <a:latin typeface="Inter Tight"/>
              </a:rPr>
              <a:t>PRIORIDADE 04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Georgia"/>
              </a:rPr>
              <a:t>Painel de edição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AEC3E6"/>
                </a:solidFill>
                <a:latin typeface="Inter Tight"/>
              </a:rPr>
              <a:t>Equipe do HC edita o conteúdo sem depender de programador (ex.: Supabase).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-914400"/>
            <a:ext cx="7315200" cy="5486400"/>
          </a:xfrm>
          <a:prstGeom prst="rect">
            <a:avLst/>
          </a:prstGeom>
          <a:solidFill>
            <a:srgbClr val="14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7FB0F2"/>
                </a:solidFill>
                <a:latin typeface="Inter Tight"/>
              </a:rPr>
              <a:t>● </a:t>
            </a:r>
            <a:r>
              <a:rPr sz="1000" b="1" spc="260">
                <a:solidFill>
                  <a:srgbClr val="7FB0F2"/>
                </a:solidFill>
                <a:latin typeface="Inter Tight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4800">
                <a:solidFill>
                  <a:srgbClr val="FFFFFF"/>
                </a:solidFill>
                <a:latin typeface="Georgia"/>
              </a:rPr>
              <a:t>Vamos ver </a:t>
            </a:r>
            <a:r>
              <a:rPr sz="4800" i="1">
                <a:solidFill>
                  <a:srgbClr val="7FB0F2"/>
                </a:solidFill>
                <a:latin typeface="Georgia"/>
              </a:rPr>
              <a:t>funcionando.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AEC3E6"/>
                </a:solidFill>
                <a:latin typeface="Inter Tight"/>
              </a:rPr>
              <a:t>Assistente conversacional de exames de imagem — HC-UFPE · Tópicos Avançados 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29768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 Tight"/>
              </a:rPr>
              <a:t>Iniciar demonstração ao vivo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440680"/>
            <a:ext cx="10545775" cy="12700"/>
          </a:xfrm>
          <a:prstGeom prst="rect">
            <a:avLst/>
          </a:prstGeom>
          <a:solidFill>
            <a:srgbClr val="2A4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692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AEC3E6"/>
                </a:solidFill>
                <a:latin typeface="Inter Tight"/>
              </a:rPr>
              <a:t>Antonio Robério      </a:t>
            </a:r>
            <a:r>
              <a:rPr sz="1300">
                <a:solidFill>
                  <a:srgbClr val="AEC3E6"/>
                </a:solidFill>
                <a:latin typeface="Inter Tight"/>
              </a:rPr>
              <a:t>Ithalo      </a:t>
            </a:r>
            <a:r>
              <a:rPr sz="1300">
                <a:solidFill>
                  <a:srgbClr val="AEC3E6"/>
                </a:solidFill>
                <a:latin typeface="Inter Tight"/>
              </a:rPr>
              <a:t>Mateus Ataide      </a:t>
            </a:r>
            <a:r>
              <a:rPr sz="1300">
                <a:solidFill>
                  <a:srgbClr val="AEC3E6"/>
                </a:solidFill>
                <a:latin typeface="Inter Tight"/>
              </a:rPr>
              <a:t>Eric Barreto      </a:t>
            </a:r>
            <a:r>
              <a:rPr sz="1300">
                <a:solidFill>
                  <a:srgbClr val="AEC3E6"/>
                </a:solidFill>
                <a:latin typeface="Inter Tight"/>
              </a:rPr>
              <a:t>Joyce Santana      </a:t>
            </a:r>
            <a:r>
              <a:rPr sz="1300">
                <a:solidFill>
                  <a:srgbClr val="AEC3E6"/>
                </a:solidFill>
                <a:latin typeface="Inter Tight"/>
              </a:rPr>
              <a:t>Mateus Guerra      </a:t>
            </a:r>
            <a:r>
              <a:rPr sz="1300">
                <a:solidFill>
                  <a:srgbClr val="AEC3E6"/>
                </a:solidFill>
                <a:latin typeface="Inter Tight"/>
              </a:rPr>
              <a:t>Luís Felipe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