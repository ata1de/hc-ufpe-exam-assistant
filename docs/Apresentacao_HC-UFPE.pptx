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19695" y="0"/>
            <a:ext cx="4572000" cy="310896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48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1D6FE0"/>
                </a:solidFill>
                <a:latin typeface="Inter Tight"/>
              </a:rPr>
              <a:t>◆ </a:t>
            </a:r>
            <a:r>
              <a:rPr sz="1300" b="1" spc="220">
                <a:solidFill>
                  <a:srgbClr val="14418A"/>
                </a:solidFill>
                <a:latin typeface="Inter Tight"/>
              </a:rPr>
              <a:t>HC-UFPE · DIAGNÓSTICO POR IMAGEM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71255" y="475488"/>
            <a:ext cx="2743200" cy="50292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25400" bIns="25400"/>
          <a:lstStyle/>
          <a:p>
            <a:pPr algn="ctr"/>
            <a:r>
              <a:rPr sz="1300" b="1" i="0" spc="100">
                <a:solidFill>
                  <a:srgbClr val="14418A"/>
                </a:solidFill>
                <a:latin typeface="Inter Tight"/>
              </a:rPr>
              <a:t>TÓPICOS AVANÇADOS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9659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ASSISTENTE CONVERSACIONAL DE EXAMES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3172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4800" i="0">
                <a:solidFill>
                  <a:srgbClr val="0B2545"/>
                </a:solidFill>
                <a:latin typeface="Georgia"/>
              </a:rPr>
              <a:t>Saiba exatamente como </a:t>
            </a:r>
            <a:r>
              <a:rPr sz="4800" i="1">
                <a:solidFill>
                  <a:srgbClr val="14418A"/>
                </a:solidFill>
                <a:latin typeface="Georgia"/>
              </a:rPr>
              <a:t>se preparar</a:t>
            </a:r>
            <a:r>
              <a:rPr sz="4800" i="0">
                <a:solidFill>
                  <a:srgbClr val="0B2545"/>
                </a:solidFill>
                <a:latin typeface="Georgia"/>
              </a:rPr>
              <a:t> para o seu exame de imagem.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526280"/>
            <a:ext cx="9144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Um chatbot que centraliza e comunica corretamente as orientações de preparo dos exames do setor de imagem do HC-UFPE.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5623560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806440"/>
            <a:ext cx="504428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 spc="140">
                <a:solidFill>
                  <a:srgbClr val="5A7299"/>
                </a:solidFill>
                <a:latin typeface="Inter Tight"/>
              </a:rPr>
              <a:t>CLIENTE</a:t>
            </a:r>
          </a:p>
          <a:p>
            <a:pPr algn="l"/>
            <a:r>
              <a:rPr sz="1800" b="1" i="0">
                <a:solidFill>
                  <a:srgbClr val="0B2545"/>
                </a:solidFill>
                <a:latin typeface="Inter Tight"/>
              </a:rPr>
              <a:t>Unidade de Diagnóstico por Imagem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5847" y="5806440"/>
            <a:ext cx="5044287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 spc="140">
                <a:solidFill>
                  <a:srgbClr val="5A7299"/>
                </a:solidFill>
                <a:latin typeface="Inter Tight"/>
              </a:rPr>
              <a:t>ABORDAGEM</a:t>
            </a:r>
          </a:p>
          <a:p>
            <a:pPr algn="l"/>
            <a:r>
              <a:rPr sz="1800" b="1" i="0">
                <a:solidFill>
                  <a:srgbClr val="0B2545"/>
                </a:solidFill>
                <a:latin typeface="Inter Tight"/>
              </a:rPr>
              <a:t>Next.js · Serverless · Claude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01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MOTIVAÇÃO · O 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A orientação certa </a:t>
            </a:r>
            <a:r>
              <a:rPr sz="3800" i="1">
                <a:solidFill>
                  <a:srgbClr val="14418A"/>
                </a:solidFill>
                <a:latin typeface="Georgia"/>
              </a:rPr>
              <a:t>não chega</a:t>
            </a:r>
            <a:r>
              <a:rPr sz="3800" i="0">
                <a:solidFill>
                  <a:srgbClr val="0B2545"/>
                </a:solidFill>
                <a:latin typeface="Georgia"/>
              </a:rPr>
              <a:t> a quem realiza o exame.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8600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Preparo, jejum, contraste, documentação e forma de marcar estão dispersos entre planilhas, PDFs e folhas físicas. Quando a orientação falha, o exame remarca.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703320"/>
            <a:ext cx="2419273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DCE8FA"/>
                </a:solidFill>
                <a:latin typeface="Georgia"/>
              </a:rPr>
              <a:t>01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Solicitação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Médico registra o exame no AGHU.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0183" y="3886200"/>
            <a:ext cx="12700" cy="192024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6553" y="3703320"/>
            <a:ext cx="2419273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DCE8FA"/>
                </a:solidFill>
                <a:latin typeface="Georgia"/>
              </a:rPr>
              <a:t>02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Marcação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Paciente ou enfermagem agenda — sem padrão.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89497" y="3886200"/>
            <a:ext cx="12700" cy="192024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55867" y="3703320"/>
            <a:ext cx="2419273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D6FE0"/>
                </a:solidFill>
                <a:latin typeface="Georgia"/>
              </a:rPr>
              <a:t>03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Orientação falha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Preparo não chega ao paciente.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828811" y="3886200"/>
            <a:ext cx="12700" cy="192024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95181" y="3703320"/>
            <a:ext cx="2419273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0" i="0">
                <a:solidFill>
                  <a:srgbClr val="1D6FE0"/>
                </a:solidFill>
                <a:latin typeface="Georgia"/>
              </a:rPr>
              <a:t>04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Remarcação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Vaga perdida, fila cresce.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0936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 spc="40">
                <a:solidFill>
                  <a:srgbClr val="5A7299"/>
                </a:solidFill>
                <a:latin typeface="Inter Tight"/>
              </a:rPr>
              <a:t>Validado em 3 visitas com Tiago Jornada e Karoline Andrade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02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BASE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814 exames ingeridos, </a:t>
            </a:r>
            <a:r>
              <a:rPr sz="3600" i="1">
                <a:solidFill>
                  <a:srgbClr val="14418A"/>
                </a:solidFill>
                <a:latin typeface="Georgia"/>
              </a:rPr>
              <a:t>3 fontes</a:t>
            </a:r>
            <a:r>
              <a:rPr sz="3600" i="0">
                <a:solidFill>
                  <a:srgbClr val="0B2545"/>
                </a:solidFill>
                <a:latin typeface="Georgia"/>
              </a:rPr>
              <a:t>, 7 modalidades.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965960"/>
            <a:ext cx="333237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03704"/>
            <a:ext cx="278373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spc="100">
                <a:solidFill>
                  <a:srgbClr val="1D6FE0"/>
                </a:solidFill>
                <a:latin typeface="Inter Tight"/>
              </a:rPr>
              <a:t>FONTE 01 · DIGITAL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0B2545"/>
                </a:solidFill>
                <a:latin typeface="Georgia"/>
              </a:rPr>
              <a:t>Catálogo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914 linhas → 814 exames únicos: nome, sigla, sinônimos, modalidade.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29658" y="1965960"/>
            <a:ext cx="3332378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3978" y="2203704"/>
            <a:ext cx="278373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spc="100">
                <a:solidFill>
                  <a:srgbClr val="1D6FE0"/>
                </a:solidFill>
                <a:latin typeface="Inter Tight"/>
              </a:rPr>
              <a:t>FONTE 02 · DIGITAL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0B2545"/>
                </a:solidFill>
                <a:latin typeface="Georgia"/>
              </a:rPr>
              <a:t>Orientações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Preparos por modalidade. Cobre USG, RM, MMG e DO.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2076" y="1965960"/>
            <a:ext cx="3332378" cy="182880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6396" y="2203704"/>
            <a:ext cx="2783738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spc="100">
                <a:solidFill>
                  <a:srgbClr val="1D6FE0"/>
                </a:solidFill>
                <a:latin typeface="Inter Tight"/>
              </a:rPr>
              <a:t>FONTE 03 · NO PAPEL</a:t>
            </a:r>
          </a:p>
          <a:p>
            <a:pPr algn="l">
              <a:spcAft>
                <a:spcPts val="800"/>
              </a:spcAft>
            </a:pPr>
            <a:r>
              <a:rPr sz="2200" b="0" i="0">
                <a:solidFill>
                  <a:srgbClr val="0B2545"/>
                </a:solidFill>
                <a:latin typeface="Georgia"/>
              </a:rPr>
              <a:t>Folhas físicas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Preparos de TC, RX e Medicina Nuclear — ainda a digitalizar.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31920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0B2545"/>
                </a:solidFill>
                <a:latin typeface="Inter Tight"/>
              </a:rPr>
              <a:t>Tomografia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20440" y="4050792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4050792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393192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418A"/>
                </a:solidFill>
                <a:latin typeface="Inter Tight"/>
              </a:rPr>
              <a:t>0/259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15968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0B2545"/>
                </a:solidFill>
                <a:latin typeface="Inter Tight"/>
              </a:rPr>
              <a:t>Radiologia Conv.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0440" y="4434840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520440" y="4434840"/>
            <a:ext cx="4640491" cy="164592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520440" y="4434840"/>
            <a:ext cx="4465378" cy="164592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72600" y="4315968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418A"/>
                </a:solidFill>
                <a:latin typeface="Inter Tight"/>
              </a:rPr>
              <a:t>204/212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0016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0B2545"/>
                </a:solidFill>
                <a:latin typeface="Inter Tight"/>
              </a:rPr>
              <a:t>Ressonância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520440" y="4818888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520440" y="4818888"/>
            <a:ext cx="4224598" cy="164592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20440" y="4818888"/>
            <a:ext cx="4224598" cy="164592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72600" y="4700016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418A"/>
                </a:solidFill>
                <a:latin typeface="Inter Tight"/>
              </a:rPr>
              <a:t>193/193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084064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0B2545"/>
                </a:solidFill>
                <a:latin typeface="Inter Tight"/>
              </a:rPr>
              <a:t>Ultrassonografia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20440" y="5202936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520440" y="5202936"/>
            <a:ext cx="2364024" cy="164592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520440" y="5202936"/>
            <a:ext cx="350225" cy="164592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72600" y="5084064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418A"/>
                </a:solidFill>
                <a:latin typeface="Inter Tight"/>
              </a:rPr>
              <a:t>16/108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5468112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0B2545"/>
                </a:solidFill>
                <a:latin typeface="Inter Tight"/>
              </a:rPr>
              <a:t>Medicina Nuclear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520440" y="5586984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3520440" y="5586984"/>
            <a:ext cx="700451" cy="164592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372600" y="5468112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418A"/>
                </a:solidFill>
                <a:latin typeface="Inter Tight"/>
              </a:rPr>
              <a:t>0/32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5852160"/>
            <a:ext cx="2743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0B2545"/>
                </a:solidFill>
                <a:latin typeface="Inter Tight"/>
              </a:rPr>
              <a:t>Mamografia / Densit.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20440" y="5971032"/>
            <a:ext cx="5669280" cy="16459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520440" y="5971032"/>
            <a:ext cx="218891" cy="164592"/>
          </a:xfrm>
          <a:prstGeom prst="roundRect">
            <a:avLst>
              <a:gd name="adj" fmla="val 6000"/>
            </a:avLst>
          </a:prstGeom>
          <a:solidFill>
            <a:srgbClr val="DC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520440" y="5971032"/>
            <a:ext cx="218891" cy="164592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72600" y="5852160"/>
            <a:ext cx="12801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4418A"/>
                </a:solidFill>
                <a:latin typeface="Inter Tight"/>
              </a:rPr>
              <a:t>10/10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20440" y="6345936"/>
            <a:ext cx="71323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>
                <a:solidFill>
                  <a:srgbClr val="1D6FE0"/>
                </a:solidFill>
                <a:latin typeface="Inter Tight"/>
              </a:rPr>
              <a:t>■ </a:t>
            </a:r>
            <a:r>
              <a:rPr sz="1600">
                <a:solidFill>
                  <a:srgbClr val="5A7299"/>
                </a:solidFill>
                <a:latin typeface="Inter Tight"/>
              </a:rPr>
              <a:t>com preparo confirmado     </a:t>
            </a:r>
            <a:r>
              <a:rPr sz="1600">
                <a:solidFill>
                  <a:srgbClr val="DCE8FA"/>
                </a:solidFill>
                <a:latin typeface="Inter Tight"/>
              </a:rPr>
              <a:t>■ </a:t>
            </a:r>
            <a:r>
              <a:rPr sz="1600">
                <a:solidFill>
                  <a:srgbClr val="5A7299"/>
                </a:solidFill>
                <a:latin typeface="Inter Tight"/>
              </a:rPr>
              <a:t>pendente → roteado ao setor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03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A PROPOSTA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Chatbot de acesso aberto que </a:t>
            </a:r>
            <a:r>
              <a:rPr sz="3600" i="1">
                <a:solidFill>
                  <a:srgbClr val="14418A"/>
                </a:solidFill>
                <a:latin typeface="Georgia"/>
              </a:rPr>
              <a:t>adapta o tom</a:t>
            </a:r>
            <a:r>
              <a:rPr sz="3600" i="0">
                <a:solidFill>
                  <a:srgbClr val="0B2545"/>
                </a:solidFill>
                <a:latin typeface="Georgia"/>
              </a:rPr>
              <a:t> ao usuário.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Uma pergunta em linguagem natural. A resposta vem só dos documentos oficiais — nunca inventada — e no nível certo para quem pergunta.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29000"/>
            <a:ext cx="5090007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794760"/>
            <a:ext cx="640080" cy="64008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0" i="0">
                <a:solidFill>
                  <a:srgbClr val="1D6FE0"/>
                </a:solidFill>
                <a:latin typeface="Inter Tight"/>
              </a:rPr>
              <a:t>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617720"/>
            <a:ext cx="435848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 i="0">
                <a:solidFill>
                  <a:srgbClr val="0B2545"/>
                </a:solidFill>
                <a:latin typeface="Georgia"/>
              </a:rPr>
              <a:t>Paciente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Picker guiado: escolhe modalidade, exame e responde contraste / sedação / lado. Resposta em linguagem simples.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24447" y="3429000"/>
            <a:ext cx="5090007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90207" y="3794760"/>
            <a:ext cx="640080" cy="64008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0" i="0">
                <a:solidFill>
                  <a:srgbClr val="1D6FE0"/>
                </a:solidFill>
                <a:latin typeface="Inter Tight"/>
              </a:rPr>
              <a:t>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90207" y="4617720"/>
            <a:ext cx="4358487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 i="0">
                <a:solidFill>
                  <a:srgbClr val="0B2545"/>
                </a:solidFill>
                <a:latin typeface="Georgia"/>
              </a:rPr>
              <a:t>Profissional</a:t>
            </a:r>
          </a:p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Linguagem técnica + código AGHU do exame para o cadastro. Protocolos, contraste, sedação e fluxo.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0936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 spc="40">
                <a:solidFill>
                  <a:srgbClr val="5A7299"/>
                </a:solidFill>
                <a:latin typeface="Inter Tight"/>
              </a:rPr>
              <a:t>Fora do escopo · navegação pelo corpo humano · marcação real · dados de paciente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04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METODOLOGIA · PIPELINE DE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400" i="0">
                <a:solidFill>
                  <a:srgbClr val="0B2545"/>
                </a:solidFill>
                <a:latin typeface="Georgia"/>
              </a:rPr>
              <a:t>Um script de ingestão monta a base, </a:t>
            </a:r>
            <a:r>
              <a:rPr sz="3400" i="1">
                <a:solidFill>
                  <a:srgbClr val="14418A"/>
                </a:solidFill>
                <a:latin typeface="Georgia"/>
              </a:rPr>
              <a:t>não a mão.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123692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" y="2350008"/>
            <a:ext cx="585216" cy="58521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 Tigh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331720"/>
            <a:ext cx="9585655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Ler o catálogo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914 linhas → 814 exames únicos (dedupe por sigla + modalidade).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4019804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7240" y="3246120"/>
            <a:ext cx="585216" cy="58521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 Tigh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3227832"/>
            <a:ext cx="9585655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Mapear preparo por regra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preparo_id por modalidade + contraste + sedação, reusando preparos reais.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915916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77240" y="4142232"/>
            <a:ext cx="585216" cy="58521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 Tigh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123944"/>
            <a:ext cx="9585655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Rotear pendentes com segurança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Sem preparo confirmado → fallback. Nunca presume que dispensa preparo.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5812028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77240" y="5038344"/>
            <a:ext cx="585216" cy="58521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 Tight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5020056"/>
            <a:ext cx="9585655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Validar integridade (FK)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Todo preparo_id existe; senão falha. Determinístico e idempotente.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77240" y="6708140"/>
            <a:ext cx="10637215" cy="1270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77240" y="5934456"/>
            <a:ext cx="585216" cy="585216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Inter Tight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5916168"/>
            <a:ext cx="9585655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00" b="1" i="0">
                <a:solidFill>
                  <a:srgbClr val="0B2545"/>
                </a:solidFill>
                <a:latin typeface="Inter Tight"/>
              </a:rPr>
              <a:t>Emitir exames.json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Herança automática evita redigir 814 registros à mão. npm run ingest.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05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METODOLOGIA · ARQUITETURA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Uma aplicação, </a:t>
            </a:r>
            <a:r>
              <a:rPr sz="3600" i="1">
                <a:solidFill>
                  <a:srgbClr val="14418A"/>
                </a:solidFill>
                <a:latin typeface="Georgia"/>
              </a:rPr>
              <a:t>custo próximo de zero.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31720"/>
            <a:ext cx="10637215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88720" y="233172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spc="120">
                <a:solidFill>
                  <a:srgbClr val="1D6FE0"/>
                </a:solidFill>
                <a:latin typeface="Inter Tight"/>
              </a:rPr>
              <a:t>INTERFACE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514600"/>
            <a:ext cx="72539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Inter Tight"/>
              </a:rPr>
              <a:t>Next.js (React)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Chat, picker guiado e seletor de perfil, responsivo. Servido por CDN.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483864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A7299"/>
                </a:solidFill>
                <a:latin typeface="Inter Tight"/>
              </a:rPr>
              <a:t>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86200"/>
            <a:ext cx="10637215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88720" y="388620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spc="120">
                <a:solidFill>
                  <a:srgbClr val="1D6FE0"/>
                </a:solidFill>
                <a:latin typeface="Inter Tight"/>
              </a:rPr>
              <a:t>API ROUTE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4069080"/>
            <a:ext cx="72539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Inter Tight"/>
              </a:rPr>
              <a:t>Função serverless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Busca o exame, monta o contexto por perfil e chama o modelo. Sem servidor.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038344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5A7299"/>
                </a:solidFill>
                <a:latin typeface="Inter Tight"/>
              </a:rPr>
              <a:t>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5440680"/>
            <a:ext cx="10637215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88720" y="5440680"/>
            <a:ext cx="2377440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 spc="120">
                <a:solidFill>
                  <a:srgbClr val="1D6FE0"/>
                </a:solidFill>
                <a:latin typeface="Inter Tight"/>
              </a:rPr>
              <a:t>DADOS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94760" y="5623560"/>
            <a:ext cx="7253935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1" i="0">
                <a:solidFill>
                  <a:srgbClr val="0B2545"/>
                </a:solidFill>
                <a:latin typeface="Inter Tight"/>
              </a:rPr>
              <a:t>JSON + busca textual</a:t>
            </a:r>
          </a:p>
          <a:p>
            <a:pPr algn="l">
              <a:lnSpc>
                <a:spcPct val="120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814 exames; busca por nome/sigla/sinônimos, instantânea — sem banco vetorial.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6309360"/>
            <a:ext cx="10637215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00" b="0" i="0" spc="40">
                <a:solidFill>
                  <a:srgbClr val="5A7299"/>
                </a:solidFill>
                <a:latin typeface="Inter Tight"/>
              </a:rPr>
              <a:t>Next.js · Vercel · Claude (Anthropic) · JSON em memória com fallback determinístico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06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RESULTADOS ALCANÇADOS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Assistente </a:t>
            </a:r>
            <a:r>
              <a:rPr sz="3600" i="1">
                <a:solidFill>
                  <a:srgbClr val="14418A"/>
                </a:solidFill>
                <a:latin typeface="Georgia"/>
              </a:rPr>
              <a:t>funcional e navegável</a:t>
            </a:r>
            <a:r>
              <a:rPr sz="3600" i="0">
                <a:solidFill>
                  <a:srgbClr val="0B2545"/>
                </a:solidFill>
                <a:latin typeface="Georgia"/>
              </a:rPr>
              <a:t>, on-brand.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240280"/>
            <a:ext cx="38100" cy="141732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" y="2194560"/>
            <a:ext cx="2197531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0" i="0">
                <a:solidFill>
                  <a:srgbClr val="14418A"/>
                </a:solidFill>
                <a:latin typeface="Georgia"/>
              </a:rPr>
              <a:t>814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exames reconhecidos</a:t>
            </a:r>
          </a:p>
        </p:txBody>
      </p:sp>
      <p:sp>
        <p:nvSpPr>
          <p:cNvPr id="8" name="Rectangle 7"/>
          <p:cNvSpPr/>
          <p:nvPr/>
        </p:nvSpPr>
        <p:spPr>
          <a:xfrm>
            <a:off x="3505123" y="2240280"/>
            <a:ext cx="38100" cy="141732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61155" y="2194560"/>
            <a:ext cx="2197531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0" i="0">
                <a:solidFill>
                  <a:srgbClr val="14418A"/>
                </a:solidFill>
                <a:latin typeface="Georgia"/>
              </a:rPr>
              <a:t>423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com preparo confirmado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33007" y="2240280"/>
            <a:ext cx="38100" cy="141732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9039" y="2194560"/>
            <a:ext cx="2197531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0" i="0">
                <a:solidFill>
                  <a:srgbClr val="14418A"/>
                </a:solidFill>
                <a:latin typeface="Georgia"/>
              </a:rPr>
              <a:t>2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perfis + código AGHU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0891" y="2240280"/>
            <a:ext cx="38100" cy="1417320"/>
          </a:xfrm>
          <a:prstGeom prst="rect">
            <a:avLst/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16923" y="2194560"/>
            <a:ext cx="2197531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4200" b="0" i="0">
                <a:solidFill>
                  <a:srgbClr val="14418A"/>
                </a:solidFill>
                <a:latin typeface="Georgia"/>
              </a:rPr>
              <a:t>0</a:t>
            </a:r>
          </a:p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dado pessoal coletado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4069080"/>
            <a:ext cx="3332378" cy="201168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4343400"/>
            <a:ext cx="274716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spc="10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B2545"/>
                </a:solidFill>
                <a:latin typeface="Georgia"/>
              </a:rPr>
              <a:t>Picker guiado</a:t>
            </a:r>
          </a:p>
          <a:p>
            <a:pPr algn="l">
              <a:lnSpc>
                <a:spcPct val="122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Modalidade → exame → contraste / sedação / lado. Pedido da Karol no 3º checkpoint.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29658" y="4069080"/>
            <a:ext cx="3332378" cy="201168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22266" y="4343400"/>
            <a:ext cx="274716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spc="10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B2545"/>
                </a:solidFill>
                <a:latin typeface="Georgia"/>
              </a:rPr>
              <a:t>Código AGHU</a:t>
            </a:r>
          </a:p>
          <a:p>
            <a:pPr algn="l">
              <a:lnSpc>
                <a:spcPct val="122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Profissional busca o exame e recebe o código. Paciente nunca vê.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2076" y="4069080"/>
            <a:ext cx="3332378" cy="2011680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4684" y="4343400"/>
            <a:ext cx="2747162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 spc="100">
                <a:solidFill>
                  <a:srgbClr val="1D6FE0"/>
                </a:solidFill>
                <a:latin typeface="Inter Tight"/>
              </a:rPr>
              <a:t>✓ ENTREGUE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0B2545"/>
                </a:solidFill>
                <a:latin typeface="Georgia"/>
              </a:rPr>
              <a:t>Guardrails</a:t>
            </a:r>
          </a:p>
          <a:p>
            <a:pPr algn="l">
              <a:lnSpc>
                <a:spcPct val="122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Recusa quando falta info; pendentes roteados ao setor. Não substitui a equipe.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07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RESULTADOS · O PRODUTO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600" i="0">
                <a:solidFill>
                  <a:srgbClr val="0B2545"/>
                </a:solidFill>
                <a:latin typeface="Georgia"/>
              </a:rPr>
              <a:t>Da pergunta à orientação, </a:t>
            </a:r>
            <a:r>
              <a:rPr sz="3600" i="1">
                <a:solidFill>
                  <a:srgbClr val="14418A"/>
                </a:solidFill>
                <a:latin typeface="Georgia"/>
              </a:rPr>
              <a:t>com a fonte.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566928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5669280" cy="640080"/>
          </a:xfrm>
          <a:prstGeom prst="rect">
            <a:avLst/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0B2545"/>
                </a:solidFill>
                <a:latin typeface="Georgia"/>
              </a:rPr>
              <a:t>Assistente UDI HC-UFPE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92040" y="2313432"/>
            <a:ext cx="1280160" cy="365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CE8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4418A"/>
                </a:solidFill>
                <a:latin typeface="Inter Tight"/>
              </a:rPr>
              <a:t>Paciente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06040" y="2971800"/>
            <a:ext cx="3566160" cy="685800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101600" bIns="101600"/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FFFFFF"/>
                </a:solidFill>
                <a:latin typeface="Inter Tight"/>
              </a:rPr>
              <a:t>Preciso de jejum para ressonância com contraste?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1560" y="3785616"/>
            <a:ext cx="4023360" cy="117043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101600" bIns="101600"/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0B2545"/>
                </a:solidFill>
                <a:latin typeface="Inter Tight"/>
              </a:rPr>
              <a:t>Sim. Jejum de 4 horas. Leve o pedido médico e um documento com foto.</a:t>
            </a:r>
          </a:p>
          <a:p>
            <a:pPr algn="l"/>
            <a:r>
              <a:rPr sz="1300" b="1" i="0" spc="40">
                <a:solidFill>
                  <a:srgbClr val="14418A"/>
                </a:solidFill>
                <a:latin typeface="Inter Tight"/>
              </a:rPr>
              <a:t>Fonte · Orientações RM · HC-UFPE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77640" y="5084064"/>
            <a:ext cx="2194560" cy="457200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101600" bIns="101600"/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FFFFFF"/>
                </a:solidFill>
                <a:latin typeface="Inter Tight"/>
              </a:rPr>
              <a:t>E onde eu marco?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51560" y="5669280"/>
            <a:ext cx="4023360" cy="941832"/>
          </a:xfrm>
          <a:prstGeom prst="roundRect">
            <a:avLst>
              <a:gd name="adj" fmla="val 6000"/>
            </a:avLst>
          </a:prstGeom>
          <a:solidFill>
            <a:srgbClr val="EA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9700" rIns="139700" tIns="101600" bIns="101600"/>
          <a:lstStyle/>
          <a:p>
            <a:pPr algn="l">
              <a:lnSpc>
                <a:spcPct val="120000"/>
              </a:lnSpc>
            </a:pPr>
            <a:r>
              <a:rPr sz="1500" b="0" i="0">
                <a:solidFill>
                  <a:srgbClr val="0B2545"/>
                </a:solidFill>
                <a:latin typeface="Inter Tight"/>
              </a:rPr>
              <a:t>Na central de marcação do hospital, presencialmente.</a:t>
            </a:r>
          </a:p>
          <a:p>
            <a:pPr algn="l"/>
            <a:r>
              <a:rPr sz="1300" b="1" i="0" spc="40">
                <a:solidFill>
                  <a:srgbClr val="14418A"/>
                </a:solidFill>
                <a:latin typeface="Inter Tight"/>
              </a:rPr>
              <a:t>Fonte · Fluxo de agendamento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2423160"/>
            <a:ext cx="432785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D6FE0"/>
                </a:solidFill>
                <a:latin typeface="Inter Tight"/>
              </a:rPr>
              <a:t>→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Picker guiado (paciente)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Escolhe modalidade e exame, responde contraste/sedação — sem saber o nome técnico.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3794760"/>
            <a:ext cx="432785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D6FE0"/>
                </a:solidFill>
                <a:latin typeface="Inter Tight"/>
              </a:rPr>
              <a:t>→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Código AGHU (profissional)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Busca o exame e recebe o código para o cadastro. Paciente nunca vê.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5166360"/>
            <a:ext cx="4327855" cy="1325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>
                <a:solidFill>
                  <a:srgbClr val="1D6FE0"/>
                </a:solidFill>
                <a:latin typeface="Inter Tight"/>
              </a:rPr>
              <a:t>→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Fundamentação + tom por perfil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Só dos documentos oficiais, no registro certo para cada público.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08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ANÁLISE CRÍTICA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Pontos fortes </a:t>
            </a:r>
            <a:r>
              <a:rPr sz="3800" i="1">
                <a:solidFill>
                  <a:srgbClr val="14418A"/>
                </a:solidFill>
                <a:latin typeface="Georgia"/>
              </a:rPr>
              <a:t>e</a:t>
            </a:r>
            <a:r>
              <a:rPr sz="3800" i="0">
                <a:solidFill>
                  <a:srgbClr val="0B2545"/>
                </a:solidFill>
                <a:latin typeface="Georgia"/>
              </a:rPr>
              <a:t> limitações.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24028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spc="140">
                <a:solidFill>
                  <a:srgbClr val="14418A"/>
                </a:solidFill>
                <a:latin typeface="Inter Tight"/>
              </a:rPr>
              <a:t>▲ PONTOS FORTES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80360"/>
            <a:ext cx="486140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Cobertura ampla e honesta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814 exames reconhecidos; 423 com preparo real, o resto roteado com segurança ao setor.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4142232"/>
            <a:ext cx="486140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Segurança clínica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Nunca presume que dispensa preparo; sem info, recusa e indica o setor.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5404104"/>
            <a:ext cx="486140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1D6FE0"/>
                </a:solidFill>
                <a:latin typeface="Inter Tight"/>
              </a:rPr>
              <a:t>+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Custo e privacidade mínimos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Serverless + JSON em memória; sem login nem dado de paciente — LGPD reduzida.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53047" y="2240280"/>
            <a:ext cx="4861407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1" i="0" spc="140">
                <a:solidFill>
                  <a:srgbClr val="5A7299"/>
                </a:solidFill>
                <a:latin typeface="Inter Tight"/>
              </a:rPr>
              <a:t>▼ LIMITAÇÕES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53047" y="2880360"/>
            <a:ext cx="486140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Sem testes com usuários finais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Restrição do projeto — validação só com os profissionais do HC.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047" y="4142232"/>
            <a:ext cx="486140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391 exames sem preparo confirmado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TC e Medicina Nuclear dependem das folhas físicas ainda por digitalizar.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3047" y="5404104"/>
            <a:ext cx="4861407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1">
                <a:solidFill>
                  <a:srgbClr val="5A7299"/>
                </a:solidFill>
                <a:latin typeface="Inter Tight"/>
              </a:rPr>
              <a:t>–  </a:t>
            </a:r>
            <a:r>
              <a:rPr sz="1800" b="1">
                <a:solidFill>
                  <a:srgbClr val="0B2545"/>
                </a:solidFill>
                <a:latin typeface="Inter Tight"/>
              </a:rPr>
              <a:t>Nomes com typos na planilha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Alguns rótulos herdam erros da fonte; correção é curadoria incremental.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95847" y="2286000"/>
            <a:ext cx="12700" cy="3931920"/>
          </a:xfrm>
          <a:prstGeom prst="rect">
            <a:avLst/>
          </a:prstGeom>
          <a:solidFill>
            <a:srgbClr val="E3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C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271455" y="640080"/>
            <a:ext cx="11430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300" b="1" i="0" spc="150">
                <a:solidFill>
                  <a:srgbClr val="5A7299"/>
                </a:solidFill>
                <a:latin typeface="Inter Tight"/>
              </a:rPr>
              <a:t>09 /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64008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>
                <a:solidFill>
                  <a:srgbClr val="1D6FE0"/>
                </a:solidFill>
                <a:latin typeface="Inter Tight"/>
              </a:rPr>
              <a:t>● </a:t>
            </a:r>
            <a:r>
              <a:rPr sz="1300" b="1" spc="240">
                <a:solidFill>
                  <a:srgbClr val="5A7299"/>
                </a:solidFill>
                <a:latin typeface="Inter Tight"/>
              </a:rPr>
              <a:t>POSSIBILIDADES FUTURAS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097280"/>
            <a:ext cx="10637215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3800" i="0">
                <a:solidFill>
                  <a:srgbClr val="0B2545"/>
                </a:solidFill>
                <a:latin typeface="Georgia"/>
              </a:rPr>
              <a:t>Se continuássemos, </a:t>
            </a:r>
            <a:r>
              <a:rPr sz="3800" i="1">
                <a:solidFill>
                  <a:srgbClr val="14418A"/>
                </a:solidFill>
                <a:latin typeface="Georgia"/>
              </a:rPr>
              <a:t>nesta ordem.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377440"/>
            <a:ext cx="2453563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688336"/>
            <a:ext cx="1904923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 spc="80">
                <a:solidFill>
                  <a:srgbClr val="1D6FE0"/>
                </a:solidFill>
                <a:latin typeface="Inter Tight"/>
              </a:rPr>
              <a:t>PRIORIDADE 01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0B2545"/>
                </a:solidFill>
                <a:latin typeface="Georgia"/>
              </a:rPr>
              <a:t>Preencher preparos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Digitalizar TC e Medicina Nuclear → tirar os 391 exames do pendente.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5123" y="2377440"/>
            <a:ext cx="2453563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79443" y="2688336"/>
            <a:ext cx="1904923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 spc="80">
                <a:solidFill>
                  <a:srgbClr val="1D6FE0"/>
                </a:solidFill>
                <a:latin typeface="Inter Tight"/>
              </a:rPr>
              <a:t>PRIORIDADE 02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0B2545"/>
                </a:solidFill>
                <a:latin typeface="Georgia"/>
              </a:rPr>
              <a:t>Curar rótulos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Corrigir typos herdados da planilha nos nomes exibidos.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3007" y="2377440"/>
            <a:ext cx="2453563" cy="3474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A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7327" y="2688336"/>
            <a:ext cx="1904923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 spc="80">
                <a:solidFill>
                  <a:srgbClr val="1D6FE0"/>
                </a:solidFill>
                <a:latin typeface="Inter Tight"/>
              </a:rPr>
              <a:t>PRIORIDADE 03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0B2545"/>
                </a:solidFill>
                <a:latin typeface="Georgia"/>
              </a:rPr>
              <a:t>Corpo humano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5A7299"/>
                </a:solidFill>
                <a:latin typeface="Inter Tight"/>
              </a:rPr>
              <a:t>Navegação visual por região do corpo.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60891" y="2377440"/>
            <a:ext cx="2453563" cy="3474720"/>
          </a:xfrm>
          <a:prstGeom prst="roundRect">
            <a:avLst>
              <a:gd name="adj" fmla="val 6000"/>
            </a:avLst>
          </a:prstGeom>
          <a:solidFill>
            <a:srgbClr val="0B2545"/>
          </a:solidFill>
          <a:ln w="12700">
            <a:solidFill>
              <a:srgbClr val="0B25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211" y="2688336"/>
            <a:ext cx="1904923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300" b="1" i="0" spc="80">
                <a:solidFill>
                  <a:srgbClr val="7FB0F2"/>
                </a:solidFill>
                <a:latin typeface="Inter Tight"/>
              </a:rPr>
              <a:t>PRIORIDADE 04</a:t>
            </a:r>
          </a:p>
          <a:p>
            <a:pPr algn="l">
              <a:spcAft>
                <a:spcPts val="1000"/>
              </a:spcAft>
            </a:pPr>
            <a:r>
              <a:rPr sz="2100" b="0" i="0">
                <a:solidFill>
                  <a:srgbClr val="FFFFFF"/>
                </a:solidFill>
                <a:latin typeface="Georgia"/>
              </a:rPr>
              <a:t>Painel de edição</a:t>
            </a:r>
          </a:p>
          <a:p>
            <a:pPr algn="l">
              <a:lnSpc>
                <a:spcPct val="125000"/>
              </a:lnSpc>
            </a:pPr>
            <a:r>
              <a:rPr sz="1800" b="0" i="0">
                <a:solidFill>
                  <a:srgbClr val="AEC3E6"/>
                </a:solidFill>
                <a:latin typeface="Inter Tight"/>
              </a:rPr>
              <a:t>Equipe do HC edita conteúdo sem programador.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0" y="-914400"/>
            <a:ext cx="7315200" cy="5486400"/>
          </a:xfrm>
          <a:prstGeom prst="rect">
            <a:avLst/>
          </a:prstGeom>
          <a:solidFill>
            <a:srgbClr val="143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6304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>
                <a:solidFill>
                  <a:srgbClr val="7FB0F2"/>
                </a:solidFill>
                <a:latin typeface="Inter Tight"/>
              </a:rPr>
              <a:t>● </a:t>
            </a:r>
            <a:r>
              <a:rPr sz="1400" b="1" spc="240">
                <a:solidFill>
                  <a:srgbClr val="7FB0F2"/>
                </a:solidFill>
                <a:latin typeface="Inter Tight"/>
              </a:rPr>
              <a:t>OBRIGADO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000">
                <a:solidFill>
                  <a:srgbClr val="FFFFFF"/>
                </a:solidFill>
                <a:latin typeface="Georgia"/>
              </a:rPr>
              <a:t>Vamos ver </a:t>
            </a:r>
            <a:r>
              <a:rPr sz="5000" i="1">
                <a:solidFill>
                  <a:srgbClr val="7FB0F2"/>
                </a:solidFill>
                <a:latin typeface="Georgia"/>
              </a:rPr>
              <a:t>funcionando.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83280"/>
            <a:ext cx="91440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AEC3E6"/>
                </a:solidFill>
                <a:latin typeface="Inter Tight"/>
              </a:rPr>
              <a:t>Assistente conversacional de exames de imagem — HC-UFPE · Tópicos Avançados 4.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4343400"/>
            <a:ext cx="3931920" cy="640080"/>
          </a:xfrm>
          <a:prstGeom prst="roundRect">
            <a:avLst>
              <a:gd name="adj" fmla="val 6000"/>
            </a:avLst>
          </a:prstGeom>
          <a:solidFill>
            <a:srgbClr val="1D6F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Inter Tight"/>
              </a:rPr>
              <a:t>Iniciar demonstração ao vivo  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5440680"/>
            <a:ext cx="10637215" cy="12700"/>
          </a:xfrm>
          <a:prstGeom prst="rect">
            <a:avLst/>
          </a:prstGeom>
          <a:solidFill>
            <a:srgbClr val="2A4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566928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AEC3E6"/>
                </a:solidFill>
                <a:latin typeface="Inter Tight"/>
              </a:rPr>
              <a:t>Antonio Robério      </a:t>
            </a:r>
            <a:r>
              <a:rPr sz="1800">
                <a:solidFill>
                  <a:srgbClr val="AEC3E6"/>
                </a:solidFill>
                <a:latin typeface="Inter Tight"/>
              </a:rPr>
              <a:t>Ithalo      </a:t>
            </a:r>
            <a:r>
              <a:rPr sz="1800">
                <a:solidFill>
                  <a:srgbClr val="AEC3E6"/>
                </a:solidFill>
                <a:latin typeface="Inter Tight"/>
              </a:rPr>
              <a:t>Mateus Ataide      </a:t>
            </a:r>
            <a:r>
              <a:rPr sz="1800">
                <a:solidFill>
                  <a:srgbClr val="AEC3E6"/>
                </a:solidFill>
                <a:latin typeface="Inter Tight"/>
              </a:rPr>
              <a:t>Eric Barreto      </a:t>
            </a:r>
            <a:r>
              <a:rPr sz="1800">
                <a:solidFill>
                  <a:srgbClr val="AEC3E6"/>
                </a:solidFill>
                <a:latin typeface="Inter Tight"/>
              </a:rPr>
              <a:t>Joyce Santana      </a:t>
            </a:r>
            <a:r>
              <a:rPr sz="1800">
                <a:solidFill>
                  <a:srgbClr val="AEC3E6"/>
                </a:solidFill>
                <a:latin typeface="Inter Tight"/>
              </a:rPr>
              <a:t>Mateus Guerra      </a:t>
            </a:r>
            <a:r>
              <a:rPr sz="1800">
                <a:solidFill>
                  <a:srgbClr val="AEC3E6"/>
                </a:solidFill>
                <a:latin typeface="Inter Tight"/>
              </a:rPr>
              <a:t>Luís Felipe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