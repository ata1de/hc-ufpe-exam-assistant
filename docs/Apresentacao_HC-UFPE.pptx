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0"/>
            <a:ext cx="4572000" cy="310896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1D6FE0"/>
                </a:solidFill>
                <a:latin typeface="Inter Tight"/>
              </a:rPr>
              <a:t>◆ </a:t>
            </a:r>
            <a:r>
              <a:rPr sz="1300" b="1" spc="220">
                <a:solidFill>
                  <a:srgbClr val="14418A"/>
                </a:solidFill>
                <a:latin typeface="Inter Tight"/>
              </a:rPr>
              <a:t>HC-UFPE · DIAGNÓSTICO POR IMAGEM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71255" y="475488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300" b="1" i="0" spc="100">
                <a:solidFill>
                  <a:srgbClr val="14418A"/>
                </a:solidFill>
                <a:latin typeface="Inter Tight"/>
              </a:rPr>
              <a:t>TÓPICOS AVANÇADOS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ASSISTENTE CONVERSACIONAL DE EXAMES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4800" i="0">
                <a:solidFill>
                  <a:srgbClr val="0B2545"/>
                </a:solidFill>
                <a:latin typeface="Georgia"/>
              </a:rPr>
              <a:t>Saiba exatamente como </a:t>
            </a:r>
            <a:r>
              <a:rPr sz="4800" i="1">
                <a:solidFill>
                  <a:srgbClr val="14418A"/>
                </a:solidFill>
                <a:latin typeface="Georgia"/>
              </a:rPr>
              <a:t>se preparar</a:t>
            </a:r>
            <a:r>
              <a:rPr sz="4800" i="0">
                <a:solidFill>
                  <a:srgbClr val="0B2545"/>
                </a:solidFill>
                <a:latin typeface="Georgia"/>
              </a:rPr>
              <a:t> para o seu exame de imagem.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Um chatbot que centraliza e comunica corretamente as orientações de preparo dos exames do setor de imagem do HC-UFPE.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2356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504428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 spc="140">
                <a:solidFill>
                  <a:srgbClr val="5A7299"/>
                </a:solidFill>
                <a:latin typeface="Inter Tight"/>
              </a:rPr>
              <a:t>CLIENTE</a:t>
            </a:r>
          </a:p>
          <a:p>
            <a:pPr algn="l"/>
            <a:r>
              <a:rPr sz="1800" b="1" i="0">
                <a:solidFill>
                  <a:srgbClr val="0B2545"/>
                </a:solidFill>
                <a:latin typeface="Inter Tight"/>
              </a:rPr>
              <a:t>Unidade de Diagnóstico por Imagem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5806440"/>
            <a:ext cx="504428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 spc="140">
                <a:solidFill>
                  <a:srgbClr val="5A7299"/>
                </a:solidFill>
                <a:latin typeface="Inter Tight"/>
              </a:rPr>
              <a:t>ABORDAGEM</a:t>
            </a:r>
          </a:p>
          <a:p>
            <a:pPr algn="l"/>
            <a:r>
              <a:rPr sz="1800" b="1" i="0">
                <a:solidFill>
                  <a:srgbClr val="0B2545"/>
                </a:solidFill>
                <a:latin typeface="Inter Tight"/>
              </a:rPr>
              <a:t>Next.js · Serverless ·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MOTIVAÇÃO ·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A orientação certa </a:t>
            </a:r>
            <a:r>
              <a:rPr sz="3800" i="1">
                <a:solidFill>
                  <a:srgbClr val="14418A"/>
                </a:solidFill>
                <a:latin typeface="Georgia"/>
              </a:rPr>
              <a:t>não chega</a:t>
            </a:r>
            <a:r>
              <a:rPr sz="3800" i="0">
                <a:solidFill>
                  <a:srgbClr val="0B2545"/>
                </a:solidFill>
                <a:latin typeface="Georgia"/>
              </a:rPr>
              <a:t> a quem realiza o exame.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Preparo, jejum, contraste, documentação e forma de marcar estão dispersos entre planilhas, PDFs e folhas físicas. Quando a orientação falha, o exame remarca.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DCE8FA"/>
                </a:solidFill>
                <a:latin typeface="Georgia"/>
              </a:rPr>
              <a:t>01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Solicitação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Médico registra o exame no AGHU.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0183" y="3886200"/>
            <a:ext cx="12700" cy="192024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DCE8FA"/>
                </a:solidFill>
                <a:latin typeface="Georgia"/>
              </a:rPr>
              <a:t>02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Marcação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Paciente ou enfermagem agenda — sem padrão.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9497" y="3886200"/>
            <a:ext cx="12700" cy="192024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5867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D6FE0"/>
                </a:solidFill>
                <a:latin typeface="Georgia"/>
              </a:rPr>
              <a:t>03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Orientação falha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 não chega ao paciente.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8811" y="3886200"/>
            <a:ext cx="12700" cy="192024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5181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D6FE0"/>
                </a:solidFill>
                <a:latin typeface="Georgia"/>
              </a:rPr>
              <a:t>04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Remarcação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Vaga perdida, fila cresce.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0936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 spc="40">
                <a:solidFill>
                  <a:srgbClr val="5A7299"/>
                </a:solidFill>
                <a:latin typeface="Inter Tight"/>
              </a:rPr>
              <a:t>Validado em 3 visitas com Tiago Jornada e Karoline Andrade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BASE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814 exames ingeridos, </a:t>
            </a:r>
            <a:r>
              <a:rPr sz="3600" i="1">
                <a:solidFill>
                  <a:srgbClr val="14418A"/>
                </a:solidFill>
                <a:latin typeface="Georgia"/>
              </a:rPr>
              <a:t>3 fontes</a:t>
            </a:r>
            <a:r>
              <a:rPr sz="3600" i="0">
                <a:solidFill>
                  <a:srgbClr val="0B2545"/>
                </a:solidFill>
                <a:latin typeface="Georgia"/>
              </a:rPr>
              <a:t>, 7 modalidades.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33323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03704"/>
            <a:ext cx="278373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FONTE 01 · DIGITAL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Catálogo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914 linhas → 814 exames únicos: nome, sigla, sinônimos, modalidade.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658" y="1965960"/>
            <a:ext cx="33323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3978" y="2203704"/>
            <a:ext cx="278373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FONTE 02 · DIGITAL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Orientações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Preparos por modalidade. Cobre USG, RM, MMG e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1965960"/>
            <a:ext cx="3332378" cy="182880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6396" y="2203704"/>
            <a:ext cx="278373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FONTE 03 · NO PAPEL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Folhas físicas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Preparos de TC, RX e Medicina Nuclear — ainda a digitalizar.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Tomografia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050792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4050792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393192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0/259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1596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Radiologia Conv.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4434840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0440" y="4434840"/>
            <a:ext cx="4640491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4434840"/>
            <a:ext cx="4465378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431596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204/212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001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Ressonância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4818888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20440" y="4818888"/>
            <a:ext cx="4224598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20440" y="4818888"/>
            <a:ext cx="4224598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470001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193/193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8406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Ultrassonografia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5202936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20440" y="5202936"/>
            <a:ext cx="2364024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20440" y="5202936"/>
            <a:ext cx="350225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508406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16/108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46811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Medicina Nuclear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5586984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20440" y="5586984"/>
            <a:ext cx="700451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5468112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0/32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5216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Mamografia / Densit.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20440" y="5971032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20440" y="5971032"/>
            <a:ext cx="218891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20440" y="5971032"/>
            <a:ext cx="218891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585216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10/10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6345936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1D6FE0"/>
                </a:solidFill>
                <a:latin typeface="Inter Tight"/>
              </a:rPr>
              <a:t>■ </a:t>
            </a:r>
            <a:r>
              <a:rPr sz="1400">
                <a:solidFill>
                  <a:srgbClr val="5A7299"/>
                </a:solidFill>
                <a:latin typeface="Inter Tight"/>
              </a:rPr>
              <a:t>com preparo confirmado     </a:t>
            </a:r>
            <a:r>
              <a:rPr sz="1400">
                <a:solidFill>
                  <a:srgbClr val="DCE8FA"/>
                </a:solidFill>
                <a:latin typeface="Inter Tight"/>
              </a:rPr>
              <a:t>■ </a:t>
            </a:r>
            <a:r>
              <a:rPr sz="1400">
                <a:solidFill>
                  <a:srgbClr val="5A7299"/>
                </a:solidFill>
                <a:latin typeface="Inter Tight"/>
              </a:rPr>
              <a:t>pendente → roteado ao setor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Chatbot de acesso aberto que </a:t>
            </a:r>
            <a:r>
              <a:rPr sz="3600" i="1">
                <a:solidFill>
                  <a:srgbClr val="14418A"/>
                </a:solidFill>
                <a:latin typeface="Georgia"/>
              </a:rPr>
              <a:t>adapta o tom</a:t>
            </a:r>
            <a:r>
              <a:rPr sz="3600" i="0">
                <a:solidFill>
                  <a:srgbClr val="0B2545"/>
                </a:solidFill>
                <a:latin typeface="Georgia"/>
              </a:rPr>
              <a:t> ao usuário.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Uma pergunta em linguagem natural. A resposta vem só dos documentos oficiais — nunca inventada — e no nível certo para quem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29000"/>
            <a:ext cx="50900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794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0" i="0">
                <a:solidFill>
                  <a:srgbClr val="1D6FE0"/>
                </a:solidFill>
                <a:latin typeface="Inter Tight"/>
              </a:rPr>
              <a:t>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17720"/>
            <a:ext cx="43584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0">
                <a:solidFill>
                  <a:srgbClr val="0B2545"/>
                </a:solidFill>
                <a:latin typeface="Georgia"/>
              </a:rPr>
              <a:t>Paciente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Picker guiado: escolhe modalidade, exame e responde contraste / sedação / lado. Resposta em linguagem simples.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3429000"/>
            <a:ext cx="50900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90207" y="3794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0" i="0">
                <a:solidFill>
                  <a:srgbClr val="1D6FE0"/>
                </a:solidFill>
                <a:latin typeface="Inter Tight"/>
              </a:rPr>
              <a:t>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4617720"/>
            <a:ext cx="43584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0">
                <a:solidFill>
                  <a:srgbClr val="0B2545"/>
                </a:solidFill>
                <a:latin typeface="Georgia"/>
              </a:rPr>
              <a:t>Profissional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Linguagem técnica + código AGHU do exame para o cadastro. Protocolos, contraste, sedação e fluxo.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0936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 spc="40">
                <a:solidFill>
                  <a:srgbClr val="5A7299"/>
                </a:solidFill>
                <a:latin typeface="Inter Tight"/>
              </a:rPr>
              <a:t>Fora do escopo · navegação pelo corpo humano · marcação real · dados de paciente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METODOLOGIA · PIPELINE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Um script de ingestão monta a base, </a:t>
            </a:r>
            <a:r>
              <a:rPr sz="3400" i="1">
                <a:solidFill>
                  <a:srgbClr val="14418A"/>
                </a:solidFill>
                <a:latin typeface="Georgia"/>
              </a:rPr>
              <a:t>não a mão.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123692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350008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331720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Ler o catálogo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914 linhas → 814 exames únicos (dedupe por sigla + modalidade).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019804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46120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Mapear preparo por regra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preparo_id por modalidade + contraste + sedação, reusando preparos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915916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142232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123944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Rotear pendentes com segurança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Sem preparo confirmado → fallback. Nunca presume que dispensa preparo.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812028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5038344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020056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Validar integridade (FK)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Todo preparo_id existe; senão falha. Determinístico e idempotente.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70814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5934456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916168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Emitir exames.json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Herança automática evita redigir 814 registros à mão. npm run ingest.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METODOLOGIA ·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Uma aplicação,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custo próximo de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3721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3172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1D6FE0"/>
                </a:solidFill>
                <a:latin typeface="Inter Tight"/>
              </a:rPr>
              <a:t>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514600"/>
            <a:ext cx="72539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Inter Tight"/>
              </a:rPr>
              <a:t>Next.js (React)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Chat, picker guiado e seletor de perfil, responsivo. Servido por CDN.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83864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86200"/>
            <a:ext cx="1063721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88620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1D6FE0"/>
                </a:solidFill>
                <a:latin typeface="Inter Tight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69080"/>
            <a:ext cx="72539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Inter Tight"/>
              </a:rPr>
              <a:t>Função serverless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Busca o exame, monta o contexto por perfil e chama o modelo. Sem servidor.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38344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1063721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1D6FE0"/>
                </a:solidFill>
                <a:latin typeface="Inter Tight"/>
              </a:rPr>
              <a:t>DADOS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5623560"/>
            <a:ext cx="72539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Inter Tight"/>
              </a:rPr>
              <a:t>JSON + busca textual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814 exames; busca por nome/sigla/sinônimos, instantânea — sem banco vetorial.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0936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 spc="40">
                <a:solidFill>
                  <a:srgbClr val="5A7299"/>
                </a:solidFill>
                <a:latin typeface="Inter Tight"/>
              </a:rPr>
              <a:t>Next.js · Vercel · Claude (Anthropic) · JSON em memória com fallback determinístico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RESULTADOS ALCANÇADOS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Assistente </a:t>
            </a:r>
            <a:r>
              <a:rPr sz="3600" i="1">
                <a:solidFill>
                  <a:srgbClr val="14418A"/>
                </a:solidFill>
                <a:latin typeface="Georgia"/>
              </a:rPr>
              <a:t>funcional e navegável</a:t>
            </a:r>
            <a:r>
              <a:rPr sz="3600" i="0">
                <a:solidFill>
                  <a:srgbClr val="0B2545"/>
                </a:solidFill>
                <a:latin typeface="Georgia"/>
              </a:rPr>
              <a:t>, on-brand.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814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exames reconhecidos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5123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1155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423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com preparo confirmado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9039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2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perfis + código AGHU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0891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6923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0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dado pessoal coletado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69080"/>
            <a:ext cx="3332378" cy="20116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343400"/>
            <a:ext cx="274716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Picker guiado</a:t>
            </a:r>
          </a:p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Modalidade → exame → contraste / sedação / lado. Pedido da Karol no 3º checkpoint.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9658" y="4069080"/>
            <a:ext cx="3332378" cy="20116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2266" y="4343400"/>
            <a:ext cx="274716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Código AGHU</a:t>
            </a:r>
          </a:p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Profissional busca o exame e recebe o código. Paciente nunca vê.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2076" y="4069080"/>
            <a:ext cx="3332378" cy="20116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4684" y="4343400"/>
            <a:ext cx="274716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Guardrails</a:t>
            </a:r>
          </a:p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Recusa quando falta info; pendentes roteados ao setor. Não substitui a equipe.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RESULTADOS · O PRODUTO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Da pergunta à orientação,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com a fonte.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56692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5669280" cy="6400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0B2545"/>
                </a:solidFill>
                <a:latin typeface="Georgia"/>
              </a:rPr>
              <a:t>Assistente UDI HC-UFPE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313432"/>
            <a:ext cx="128016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4418A"/>
                </a:solidFill>
                <a:latin typeface="Inter Tight"/>
              </a:rPr>
              <a:t>Paciente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971800"/>
            <a:ext cx="3566160" cy="658368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Inter Tight"/>
              </a:rPr>
              <a:t>Preciso de jejum para ressonância com contraste?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758184"/>
            <a:ext cx="4023360" cy="89611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B2545"/>
                </a:solidFill>
                <a:latin typeface="Inter Tight"/>
              </a:rPr>
              <a:t>Sim. Jejum de 4 horas. Leve o pedido médico e um documento com foto.</a:t>
            </a:r>
          </a:p>
          <a:p>
            <a:pPr algn="l"/>
            <a:r>
              <a:rPr sz="1100" b="1" i="0" spc="40">
                <a:solidFill>
                  <a:srgbClr val="14418A"/>
                </a:solidFill>
                <a:latin typeface="Inter Tight"/>
              </a:rPr>
              <a:t>Fonte · Orientações RM · HC-UFPE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40" y="4782312"/>
            <a:ext cx="2194560" cy="43891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Inter Tight"/>
              </a:rPr>
              <a:t>E onde eu marco?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349240"/>
            <a:ext cx="4023360" cy="89611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B2545"/>
                </a:solidFill>
                <a:latin typeface="Inter Tight"/>
              </a:rPr>
              <a:t>Na central de marcação do hospital, presencialmente.</a:t>
            </a:r>
          </a:p>
          <a:p>
            <a:pPr algn="l"/>
            <a:r>
              <a:rPr sz="1100" b="1" i="0" spc="40">
                <a:solidFill>
                  <a:srgbClr val="14418A"/>
                </a:solidFill>
                <a:latin typeface="Inter Tight"/>
              </a:rPr>
              <a:t>Fonte · Fluxo de agendamento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423160"/>
            <a:ext cx="432785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D6FE0"/>
                </a:solidFill>
                <a:latin typeface="Inter Tight"/>
              </a:rPr>
              <a:t>→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Picker guiado (paciente)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Escolhe modalidade e exame, responde contraste/sedação — sem saber o nome técnico.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794760"/>
            <a:ext cx="432785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D6FE0"/>
                </a:solidFill>
                <a:latin typeface="Inter Tight"/>
              </a:rPr>
              <a:t>→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Código AGHU (profissional)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Busca o exame e recebe o código para o cadastro. Paciente nunca vê.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5166360"/>
            <a:ext cx="432785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D6FE0"/>
                </a:solidFill>
                <a:latin typeface="Inter Tight"/>
              </a:rPr>
              <a:t>→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Fundamentação + tom por perfil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Só dos documentos oficiais, no registro certo para cada público.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ANÁLISE CRÍTICA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Pontos fortes </a:t>
            </a:r>
            <a:r>
              <a:rPr sz="3800" i="1">
                <a:solidFill>
                  <a:srgbClr val="14418A"/>
                </a:solidFill>
                <a:latin typeface="Georgia"/>
              </a:rPr>
              <a:t>e</a:t>
            </a:r>
            <a:r>
              <a:rPr sz="3800" i="0">
                <a:solidFill>
                  <a:srgbClr val="0B2545"/>
                </a:solidFill>
                <a:latin typeface="Georgia"/>
              </a:rPr>
              <a:t> limitações.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spc="140">
                <a:solidFill>
                  <a:srgbClr val="14418A"/>
                </a:solidFill>
                <a:latin typeface="Inter Tight"/>
              </a:rPr>
              <a:t>▲ PONTOS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Cobertura ampla e honesta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814 exames reconhecidos; 423 com preparo real, o resto roteado com segurança ao setor.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42232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Segurança clínica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Nunca presume que dispensa preparo; sem info, recusa e indica o setor.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04104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Custo e privacidade mínimos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Serverless + JSON em memória; sem login nem dado de paciente — LGPD reduzida.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24028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spc="140">
                <a:solidFill>
                  <a:srgbClr val="5A7299"/>
                </a:solidFill>
                <a:latin typeface="Inter Tight"/>
              </a:rPr>
              <a:t>▼ LIMITAÇÕES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880360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Sem testes com usuários finais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Restrição do projeto — validação só com os profissionais do HC.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4142232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391 exames sem preparo confirmado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TC e Medicina Nuclear dependem das folhas físicas ainda por digitalizar.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5404104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Nomes com typos na planilha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Alguns rótulos herdam erros da fonte; correção é curadoria incremental.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7" y="2286000"/>
            <a:ext cx="12700" cy="393192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POSSIBILIDADES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Se continuássemos, </a:t>
            </a:r>
            <a:r>
              <a:rPr sz="3800" i="1">
                <a:solidFill>
                  <a:srgbClr val="14418A"/>
                </a:solidFill>
                <a:latin typeface="Georgia"/>
              </a:rPr>
              <a:t>nesta ordem.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1D6FE0"/>
                </a:solidFill>
                <a:latin typeface="Inter Tight"/>
              </a:rPr>
              <a:t>PRIORIDADE 01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0B2545"/>
                </a:solidFill>
                <a:latin typeface="Georgia"/>
              </a:rPr>
              <a:t>Preencher preparos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Digitalizar TC e Medicina Nuclear → tirar os 391 exames do pendente.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5123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9443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1D6FE0"/>
                </a:solidFill>
                <a:latin typeface="Inter Tight"/>
              </a:rPr>
              <a:t>PRIORIDADE 02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0B2545"/>
                </a:solidFill>
                <a:latin typeface="Georgia"/>
              </a:rPr>
              <a:t>Curar rótulos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Corrigir typos herdados da planilha nos nomes exibidos.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1D6FE0"/>
                </a:solidFill>
                <a:latin typeface="Inter Tight"/>
              </a:rPr>
              <a:t>PRIORIDADE 03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0B2545"/>
                </a:solidFill>
                <a:latin typeface="Georgia"/>
              </a:rPr>
              <a:t>Corpo humano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Navegação visual por região do corpo.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0891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211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7FB0F2"/>
                </a:solidFill>
                <a:latin typeface="Inter Tight"/>
              </a:rPr>
              <a:t>PRIORIDADE 04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FFFFFF"/>
                </a:solidFill>
                <a:latin typeface="Georgia"/>
              </a:rPr>
              <a:t>Painel de edição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AEC3E6"/>
                </a:solidFill>
                <a:latin typeface="Inter Tight"/>
              </a:rPr>
              <a:t>Equipe do HC edita conteúdo sem programador.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-914400"/>
            <a:ext cx="7315200" cy="5486400"/>
          </a:xfrm>
          <a:prstGeom prst="rect">
            <a:avLst/>
          </a:prstGeom>
          <a:solidFill>
            <a:srgbClr val="14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7FB0F2"/>
                </a:solidFill>
                <a:latin typeface="Inter Tight"/>
              </a:rPr>
              <a:t>● </a:t>
            </a:r>
            <a:r>
              <a:rPr sz="1400" b="1" spc="240">
                <a:solidFill>
                  <a:srgbClr val="7FB0F2"/>
                </a:solidFill>
                <a:latin typeface="Inter Tight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000">
                <a:solidFill>
                  <a:srgbClr val="FFFFFF"/>
                </a:solidFill>
                <a:latin typeface="Georgia"/>
              </a:rPr>
              <a:t>Vamos ver </a:t>
            </a:r>
            <a:r>
              <a:rPr sz="5000" i="1">
                <a:solidFill>
                  <a:srgbClr val="7FB0F2"/>
                </a:solidFill>
                <a:latin typeface="Georgia"/>
              </a:rPr>
              <a:t>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AEC3E6"/>
                </a:solidFill>
                <a:latin typeface="Inter Tight"/>
              </a:rPr>
              <a:t>Assistente conversacional de exames de imagem — HC-UFPE · Tópicos Avançados 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343400"/>
            <a:ext cx="3931920" cy="64008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Inter Tight"/>
              </a:rPr>
              <a:t>Iniciar demonstração ao vivo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440680"/>
            <a:ext cx="10637215" cy="12700"/>
          </a:xfrm>
          <a:prstGeom prst="rect">
            <a:avLst/>
          </a:prstGeom>
          <a:solidFill>
            <a:srgbClr val="2A4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6928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AEC3E6"/>
                </a:solidFill>
                <a:latin typeface="Inter Tight"/>
              </a:rPr>
              <a:t>Antonio Robério      </a:t>
            </a:r>
            <a:r>
              <a:rPr sz="1600">
                <a:solidFill>
                  <a:srgbClr val="AEC3E6"/>
                </a:solidFill>
                <a:latin typeface="Inter Tight"/>
              </a:rPr>
              <a:t>Ithalo      </a:t>
            </a:r>
            <a:r>
              <a:rPr sz="1600">
                <a:solidFill>
                  <a:srgbClr val="AEC3E6"/>
                </a:solidFill>
                <a:latin typeface="Inter Tight"/>
              </a:rPr>
              <a:t>Mateus Ataide      </a:t>
            </a:r>
            <a:r>
              <a:rPr sz="1600">
                <a:solidFill>
                  <a:srgbClr val="AEC3E6"/>
                </a:solidFill>
                <a:latin typeface="Inter Tight"/>
              </a:rPr>
              <a:t>Eric Barreto      </a:t>
            </a:r>
            <a:r>
              <a:rPr sz="1600">
                <a:solidFill>
                  <a:srgbClr val="AEC3E6"/>
                </a:solidFill>
                <a:latin typeface="Inter Tight"/>
              </a:rPr>
              <a:t>Joyce Santana      </a:t>
            </a:r>
            <a:r>
              <a:rPr sz="1600">
                <a:solidFill>
                  <a:srgbClr val="AEC3E6"/>
                </a:solidFill>
                <a:latin typeface="Inter Tight"/>
              </a:rPr>
              <a:t>Mateus Guerra      </a:t>
            </a:r>
            <a:r>
              <a:rPr sz="1600">
                <a:solidFill>
                  <a:srgbClr val="AEC3E6"/>
                </a:solidFill>
                <a:latin typeface="Inter Tight"/>
              </a:rPr>
              <a:t>Luís Felipe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